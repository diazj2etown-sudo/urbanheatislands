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sldIdLst>
    <p:sldId id="259" r:id="rId2"/>
    <p:sldId id="273" r:id="rId3"/>
    <p:sldId id="268" r:id="rId4"/>
    <p:sldId id="261" r:id="rId5"/>
    <p:sldId id="264" r:id="rId6"/>
    <p:sldId id="265" r:id="rId7"/>
    <p:sldId id="262" r:id="rId8"/>
    <p:sldId id="279" r:id="rId9"/>
    <p:sldId id="277" r:id="rId10"/>
    <p:sldId id="276" r:id="rId11"/>
    <p:sldId id="258" r:id="rId12"/>
    <p:sldId id="280" r:id="rId13"/>
    <p:sldId id="278" r:id="rId14"/>
    <p:sldId id="269" r:id="rId15"/>
    <p:sldId id="260" r:id="rId16"/>
    <p:sldId id="275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946F"/>
    <a:srgbClr val="92AA95"/>
    <a:srgbClr val="8AA25F"/>
    <a:srgbClr val="526E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62D522-2B80-45A7-B970-459B20B0DE77}" type="datetimeFigureOut"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0B210-6C8B-4995-AB14-76A137C6807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333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For final project open </a:t>
            </a:r>
            <a:r>
              <a:rPr lang="en-US" dirty="0" err="1">
                <a:ea typeface="Calibri"/>
                <a:cs typeface="Calibri"/>
              </a:rPr>
              <a:t>metabase</a:t>
            </a:r>
            <a:r>
              <a:rPr lang="en-US" dirty="0">
                <a:ea typeface="Calibri"/>
                <a:cs typeface="Calibri"/>
              </a:rPr>
              <a:t> and explore with class</a:t>
            </a:r>
          </a:p>
          <a:p>
            <a:r>
              <a:rPr lang="en-US" dirty="0">
                <a:ea typeface="Calibri"/>
                <a:cs typeface="Calibri"/>
              </a:rPr>
              <a:t>Need Docker to open container in </a:t>
            </a:r>
            <a:r>
              <a:rPr lang="en-US" dirty="0" err="1">
                <a:ea typeface="Calibri"/>
                <a:cs typeface="Calibri"/>
              </a:rPr>
              <a:t>metabase</a:t>
            </a:r>
            <a:r>
              <a:rPr lang="en-US" dirty="0">
                <a:ea typeface="Calibri"/>
                <a:cs typeface="Calibri"/>
              </a:rPr>
              <a:t> </a:t>
            </a:r>
          </a:p>
          <a:p>
            <a:r>
              <a:rPr lang="en-US" dirty="0">
                <a:ea typeface="Calibri"/>
                <a:cs typeface="Calibri"/>
              </a:rPr>
              <a:t>embed to </a:t>
            </a:r>
            <a:r>
              <a:rPr lang="en-US" dirty="0" err="1">
                <a:ea typeface="Calibri"/>
                <a:cs typeface="Calibri"/>
              </a:rPr>
              <a:t>powerpoint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0B210-6C8B-4995-AB14-76A137C68073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92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Mention how it wasn't necessarily difficult retrieving the data, but formatting it correctly to later transform was hard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7B44D2-87B3-421A-82A4-CED25299E3B5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135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Forgot to assign when dropping duplicates</a:t>
            </a:r>
          </a:p>
          <a:p>
            <a:r>
              <a:rPr lang="en-US">
                <a:ea typeface="Calibri"/>
                <a:cs typeface="Calibri"/>
              </a:rPr>
              <a:t>Changing site weather </a:t>
            </a:r>
            <a:r>
              <a:rPr lang="en-US" err="1">
                <a:ea typeface="Calibri"/>
                <a:cs typeface="Calibri"/>
              </a:rPr>
              <a:t>dataframe</a:t>
            </a:r>
            <a:r>
              <a:rPr lang="en-US">
                <a:ea typeface="Calibri"/>
                <a:cs typeface="Calibri"/>
              </a:rPr>
              <a:t> to have columns with weather code to convert to condition, used to be rows with sites as a column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7B44D2-87B3-421A-82A4-CED25299E3B5}" type="slidenum"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435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3549A-A26E-DF6F-2EEB-189AD7365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5C2F8E-03CC-D35A-F479-EBD9EBF5A9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BDD3E5-10DC-C28E-7899-BA3C931BD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10000"/>
              </a:lnSpc>
              <a:spcBef>
                <a:spcPts val="500"/>
              </a:spcBef>
            </a:pPr>
            <a:endParaRPr lang="en-US">
              <a:solidFill>
                <a:srgbClr val="1F2328"/>
              </a:solidFill>
              <a:highlight>
                <a:srgbClr val="FFFFFF"/>
              </a:highlight>
              <a:ea typeface="Calibri"/>
              <a:cs typeface="Calibri"/>
            </a:endParaRPr>
          </a:p>
          <a:p>
            <a:r>
              <a:rPr lang="en-US">
                <a:ea typeface="Calibri"/>
                <a:cs typeface="Calibri"/>
              </a:rPr>
              <a:t>Foreign keys were difficult to create, with code using case end to assign foreign key.</a:t>
            </a:r>
          </a:p>
          <a:p>
            <a:r>
              <a:rPr lang="en-US"/>
              <a:t>How many launches went to each destination?</a:t>
            </a:r>
          </a:p>
          <a:p>
            <a:r>
              <a:rPr lang="en-US"/>
              <a:t>How do crewed vs. robotic missions compare in payload and destination?</a:t>
            </a:r>
          </a:p>
          <a:p>
            <a:r>
              <a:rPr lang="en-US"/>
              <a:t>Which agency has the best launch success rate?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C1F0F-9A7F-B07E-FFF0-4A50AE26D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7B44D2-87B3-421A-82A4-CED25299E3B5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88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736A0-9F24-45BF-B389-F6478DB45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28700"/>
            <a:ext cx="9144000" cy="2481263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000" spc="7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3D85EF-076F-4C35-862A-BAFF685DD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4376"/>
            <a:ext cx="9144000" cy="1433423"/>
          </a:xfr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221EC-BF54-4DDD-8900-F2027CDAD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411FB-1606-4EC5-9BCA-2DC04C2243EA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5AB69-7069-48FB-8925-F2BA8412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9C32A-F7A5-4E3B-A28F-09C82341E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689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E99D7-1EE5-4262-9359-A0E2B7331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3080"/>
            <a:ext cx="10240903" cy="123348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DA1C5-272A-45C2-A11A-E7769A27D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14939"/>
            <a:ext cx="10240903" cy="39561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3DA15-1EAB-4524-9BB7-8A7DA82A2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CAA53-8FBA-45E2-8B10-F7DD55E4E759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B93B9-7818-489D-AFFB-B6EAD27FF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28D36-894E-4FCB-B8BB-84DE89949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378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64F1-5687-421F-B3DF-BA3C8DADC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930" y="1709738"/>
            <a:ext cx="9966519" cy="2852737"/>
          </a:xfrm>
        </p:spPr>
        <p:txBody>
          <a:bodyPr anchor="b">
            <a:normAutofit/>
          </a:bodyPr>
          <a:lstStyle>
            <a:lvl1pPr>
              <a:defRPr sz="4400" spc="7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BB876-5FD9-4964-BD37-6F05DAEBE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0930" y="4976327"/>
            <a:ext cx="9966520" cy="1113323"/>
          </a:xfrm>
        </p:spPr>
        <p:txBody>
          <a:bodyPr>
            <a:normAutofit/>
          </a:bodyPr>
          <a:lstStyle>
            <a:lvl1pPr marL="0" indent="0">
              <a:buNone/>
              <a:defRPr sz="1200" spc="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EA80A-FCDD-4009-9A1F-8B548178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C84CF-6F0D-4195-920D-9D6F75893720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A3422-56D9-4942-BC63-831AED91F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4B42A-AC2C-4FD8-AD0D-BECDD3846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09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DAF1-8359-4A0F-91B3-03E77C670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054" y="457200"/>
            <a:ext cx="10309745" cy="1233488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1E3D3-6B33-4CA0-B06B-A8BB05CAB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44054" y="1996141"/>
            <a:ext cx="4975746" cy="418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9C334-815D-47FD-A9B5-E871E2864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96141"/>
            <a:ext cx="5181600" cy="418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7975F2-7A90-4820-B90F-D28E31A35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B3BBE-A1CF-4CC7-B02C-EBCBBE110242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3CFAD5-8AF8-4610-8324-85AA062E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08CC8-C46E-4A10-8A83-7A251067E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962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82B8-F9D9-4F53-A4A6-F12EB5F12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490" y="457200"/>
            <a:ext cx="9986898" cy="1233488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070CA-85E9-47C7-8564-FFA1AE34B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8490" y="1681163"/>
            <a:ext cx="462908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38D4B1-41B3-4BF5-9076-A16984A81F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68490" y="2505075"/>
            <a:ext cx="4629085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6A38DC-A016-4CFD-AC19-F24A9E0620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4816" y="1681163"/>
            <a:ext cx="501057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F930FA-8C00-42AB-B2D1-FE4E4BDB3C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4814" y="2505075"/>
            <a:ext cx="5010573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8B698E-FAE5-4F2C-AE0E-4FD281E8F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63E4-71A5-4C63-9515-748B28B89764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C4BB6C-CAA4-4EA8-8EA1-65ADE056F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B6A12-0532-47CA-B070-232141CC1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137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08FA1-831E-4AD6-B0D1-BA85E67A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457200"/>
            <a:ext cx="9982199" cy="1233488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94142-C469-4B0E-8C01-C64BA28F5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92BAC-F228-4DAC-8800-3D810F869187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AAFCE6-5C7E-438F-8D4A-21E15568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ACFD88-63EA-427F-978C-B7844D1A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623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82A4F0-76A5-4852-982B-32B3B6857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EFFE8-7E8E-427A-AB26-E496551AFB7B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50CFAE-4BEB-4272-A2E6-FDD9D6A03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B71B7-74B7-4CF1-8FE0-F4863CD7D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766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432BE-C4E5-4F12-AB53-EBEF2B76B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755" y="457200"/>
            <a:ext cx="3932237" cy="192143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E7F57-4ABF-4BA4-A892-38857A02F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130" y="987425"/>
            <a:ext cx="5707257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32E444-E5BD-443F-AB83-84D7CE0AB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18755" y="2799184"/>
            <a:ext cx="3932237" cy="306980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998A4-FD2F-4126-99C5-E2063AE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C8B19-DE76-4E18-BFC7-EB25B8C421E7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457D3-F808-4DB2-9C9C-B185E71F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1BC9B-21D1-4D2D-B02E-C887A02CA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93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3EC2-2D8C-4E8D-8CC7-96764801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966" y="681135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6AF89-5FBD-43DD-958D-A5C608AE2E2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834742" y="858417"/>
            <a:ext cx="5520645" cy="500263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0A545-2CE6-48C4-A725-EF68A3F1B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8966" y="2281335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4466B2-6FE6-4352-BBF9-84BCD946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0BD94-1F69-4074-BD82-D6EDB89FE74F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991BC-29A5-4182-BD83-9D99D2889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1C78F-6633-4604-8832-8E9D2DC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208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A997B-D473-47DE-8B7B-22AB6F31E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26035-4B81-4537-A22D-92C2E0DBB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A44D-F637-4017-BAA2-77756A38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F3D07-6BCF-40BC-A7F7-89BB8FFE98C6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1DCE6-ED7D-417C-ABD4-41D61570F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AF19A-FDAE-446A-A6B6-128F7F96A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85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96D838-45E9-4D61-AA4E-92A32B579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2628900" cy="571976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3183D0-4392-4364-8A2D-C47A2AF7A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57199"/>
            <a:ext cx="7734300" cy="5719763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4A36C9-28D5-4820-84F1-E4B9F4E5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16D97-0980-426F-BEA7-F6EB2DE3AC08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7EDC8-558D-4646-86D9-A5424CF2A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B7537-E67A-411A-BBA4-061521D3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485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4C0BBB-0042-4603-A226-6117F3FD5B3C}"/>
              </a:ext>
            </a:extLst>
          </p:cNvPr>
          <p:cNvSpPr/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14000">
                <a:schemeClr val="accent4">
                  <a:alpha val="28000"/>
                </a:schemeClr>
              </a:gs>
              <a:gs pos="100000">
                <a:schemeClr val="accent5">
                  <a:alpha val="8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44F520-2598-460E-9F91-B02F60830CA2}"/>
              </a:ext>
            </a:extLst>
          </p:cNvPr>
          <p:cNvSpPr/>
          <p:nvPr/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9000">
                <a:schemeClr val="accent2">
                  <a:lumMod val="60000"/>
                  <a:lumOff val="40000"/>
                  <a:alpha val="55000"/>
                </a:schemeClr>
              </a:gs>
              <a:gs pos="99000">
                <a:schemeClr val="accent2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78F2F-4F04-4604-9005-BF0CB114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61666"/>
            <a:ext cx="9810376" cy="1659404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17D2-52AF-4B40-80A8-3E0DB855F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810376" cy="385781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2E0AA-D5B3-4BCF-BA69-209D9B335A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10111" y="6409170"/>
            <a:ext cx="3702392" cy="448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chemeClr val="bg1"/>
                </a:solidFill>
              </a:defRPr>
            </a:lvl1pPr>
          </a:lstStyle>
          <a:p>
            <a:fld id="{149C728D-416F-40D5-8F13-55E5DD1CE8D1}" type="datetimeFigureOut">
              <a:rPr lang="en-US" dirty="0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A637-D86F-4FA1-985D-2D82456511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828801" y="1912217"/>
            <a:ext cx="4114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FA4D-A931-46BA-B767-29A6FD5AAD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9678" y="6408742"/>
            <a:ext cx="438652" cy="448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1645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i="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8">
          <p15:clr>
            <a:srgbClr val="F26B43"/>
          </p15:clr>
        </p15:guide>
        <p15:guide id="4" pos="288">
          <p15:clr>
            <a:srgbClr val="F26B43"/>
          </p15:clr>
        </p15:guide>
        <p15:guide id="5" orient="horz" pos="4032">
          <p15:clr>
            <a:srgbClr val="F26B43"/>
          </p15:clr>
        </p15:guide>
        <p15:guide id="6" pos="7392">
          <p15:clr>
            <a:srgbClr val="F26B43"/>
          </p15:clr>
        </p15:guide>
        <p15:guide id="7" pos="5112">
          <p15:clr>
            <a:srgbClr val="F26B43"/>
          </p15:clr>
        </p15:guide>
        <p15:guide id="8" pos="2544">
          <p15:clr>
            <a:srgbClr val="F26B43"/>
          </p15:clr>
        </p15:guide>
        <p15:guide id="9" pos="864">
          <p15:clr>
            <a:srgbClr val="F26B43"/>
          </p15:clr>
        </p15:guide>
        <p15:guide id="10" orient="horz" pos="648">
          <p15:clr>
            <a:srgbClr val="F26B43"/>
          </p15:clr>
        </p15:guide>
        <p15:guide id="11" pos="6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16/j.buildenv.2010.04.001" TargetMode="External"/><Relationship Id="rId2" Type="http://schemas.openxmlformats.org/officeDocument/2006/relationships/hyperlink" Target="https://doi.org/10.1175/jamc-d-13-02.1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8208747" y="1548606"/>
            <a:ext cx="3621029" cy="2241755"/>
          </a:xfrm>
        </p:spPr>
        <p:txBody>
          <a:bodyPr vert="horz" lIns="0" tIns="0" rIns="0" bIns="0" rtlCol="0" anchor="b">
            <a:noAutofit/>
          </a:bodyPr>
          <a:lstStyle/>
          <a:p>
            <a:pPr algn="l"/>
            <a:r>
              <a:rPr lang="en-US" sz="3000">
                <a:solidFill>
                  <a:schemeClr val="accent5"/>
                </a:solidFill>
              </a:rPr>
              <a:t>Urban Heat </a:t>
            </a:r>
            <a:r>
              <a:rPr lang="en-US" sz="3000" dirty="0">
                <a:solidFill>
                  <a:schemeClr val="accent5"/>
                </a:solidFill>
              </a:rPr>
              <a:t>Islands in </a:t>
            </a:r>
            <a:br>
              <a:rPr lang="en-US" sz="3000" dirty="0">
                <a:solidFill>
                  <a:schemeClr val="accent5"/>
                </a:solidFill>
              </a:rPr>
            </a:br>
            <a:r>
              <a:rPr lang="en-US" sz="3000" dirty="0">
                <a:solidFill>
                  <a:schemeClr val="accent5"/>
                </a:solidFill>
              </a:rPr>
              <a:t>Central P</a:t>
            </a:r>
            <a:r>
              <a:rPr lang="en-US" sz="3000" dirty="0">
                <a:solidFill>
                  <a:schemeClr val="accent5"/>
                </a:solidFill>
                <a:latin typeface="Neue Haas Grotesk Text Pro"/>
              </a:rPr>
              <a:t>a</a:t>
            </a:r>
            <a:endParaRPr lang="en-US" sz="3000" dirty="0">
              <a:solidFill>
                <a:schemeClr val="accent5"/>
              </a:solidFill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208746" y="3916909"/>
            <a:ext cx="3473180" cy="1184584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algn="l">
              <a:lnSpc>
                <a:spcPct val="110000"/>
              </a:lnSpc>
            </a:pPr>
            <a:r>
              <a:rPr lang="en-US" sz="1700"/>
              <a:t>Final capstone Project </a:t>
            </a:r>
          </a:p>
          <a:p>
            <a:pPr algn="l">
              <a:lnSpc>
                <a:spcPct val="110000"/>
              </a:lnSpc>
            </a:pPr>
            <a:r>
              <a:rPr lang="en-US" sz="1700" b="0" dirty="0"/>
              <a:t>Jay Diaz</a:t>
            </a:r>
            <a:r>
              <a:rPr lang="en-US" sz="1700" dirty="0"/>
              <a:t>
</a:t>
            </a:r>
          </a:p>
        </p:txBody>
      </p:sp>
      <p:pic>
        <p:nvPicPr>
          <p:cNvPr id="6" name="Picture 5" descr="A map of a river&#10;&#10;AI-generated content may be incorrect.">
            <a:extLst>
              <a:ext uri="{FF2B5EF4-FFF2-40B4-BE49-F238E27FC236}">
                <a16:creationId xmlns:a16="http://schemas.microsoft.com/office/drawing/2014/main" id="{2FDD78D5-C142-53C9-BFD0-A41C2262C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3" y="1081138"/>
            <a:ext cx="7365843" cy="469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257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BA0B-57ED-A652-5FCA-FE6A9F98F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81841"/>
            <a:ext cx="10240903" cy="123348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000">
                <a:solidFill>
                  <a:schemeClr val="accent5"/>
                </a:solidFill>
              </a:rPr>
              <a:t>Background and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269C4-6846-AFA9-665D-0C89FEE4E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5360" y="1453680"/>
            <a:ext cx="10240903" cy="395617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latin typeface="Avenir Next LT Pro Light"/>
                <a:cs typeface="Times New Roman"/>
              </a:rPr>
              <a:t>Urban heat islands occur in cities as heat is stored, absorbed or entrapped more than surrounding rural and suburban areas </a:t>
            </a:r>
            <a:endParaRPr lang="en-US" sz="2400" dirty="0">
              <a:latin typeface="Avenir Next LT Pro Light"/>
            </a:endParaRP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latin typeface="Avenir Next LT Pro Light"/>
                <a:cs typeface="Times New Roman"/>
              </a:rPr>
              <a:t>This intensifies with urbanization, increasing morbidity, and mortality</a:t>
            </a: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latin typeface="Avenir Next LT Pro Light"/>
                <a:cs typeface="Times New Roman"/>
              </a:rPr>
              <a:t>In America, these heat islands disproportionately impacts communities of color due to redlining</a:t>
            </a:r>
          </a:p>
          <a:p>
            <a:pPr marL="457200" indent="-457200">
              <a:lnSpc>
                <a:spcPct val="100000"/>
              </a:lnSpc>
              <a:buFont typeface="Wingdings" panose="020B0604020202020204" pitchFamily="34" charset="0"/>
              <a:buChar char="Ø"/>
            </a:pPr>
            <a:r>
              <a:rPr lang="en-US" sz="2400" dirty="0">
                <a:highlight>
                  <a:srgbClr val="FFFFFF"/>
                </a:highlight>
                <a:cs typeface="Times New Roman"/>
              </a:rPr>
              <a:t>How do marginalized communities, specifically communities of color, experience weather anomalies in their geographical communities? </a:t>
            </a:r>
            <a:endParaRPr lang="en-US" sz="2400" dirty="0">
              <a:cs typeface="Times New Roman"/>
            </a:endParaRPr>
          </a:p>
          <a:p>
            <a:pPr marL="457200" indent="-457200">
              <a:lnSpc>
                <a:spcPct val="100000"/>
              </a:lnSpc>
              <a:buFont typeface="Wingdings" panose="020B0604020202020204" pitchFamily="34" charset="0"/>
              <a:buChar char="Ø"/>
            </a:pPr>
            <a:r>
              <a:rPr lang="en-US" sz="2400" dirty="0">
                <a:highlight>
                  <a:srgbClr val="FFFFFF"/>
                </a:highlight>
                <a:cs typeface="Times New Roman"/>
              </a:rPr>
              <a:t>Specifically, how much greater anomalies on heat islands based on total community of color 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4658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000">
                <a:solidFill>
                  <a:schemeClr val="accent5"/>
                </a:solidFill>
              </a:rPr>
              <a:t>Project scope</a:t>
            </a:r>
          </a:p>
        </p:txBody>
      </p:sp>
      <p:sp>
        <p:nvSpPr>
          <p:cNvPr id="3" name="Content Placeholder"/>
          <p:cNvSpPr>
            <a:spLocks noGrp="1"/>
          </p:cNvSpPr>
          <p:nvPr>
            <p:ph idx="1"/>
          </p:nvPr>
        </p:nvSpPr>
        <p:spPr>
          <a:xfrm>
            <a:off x="1731821" y="1547400"/>
            <a:ext cx="8728363" cy="376728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</a:rPr>
              <a:t>Utilizing csv files from US Census Data and NOAA to analyze</a:t>
            </a: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ProgresSQL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 tables will be made to compare data through queries if needed.  </a:t>
            </a: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Visualization will consist of comparison between Lebanon and Harrisburg through line graphs, bar graphs, and tables </a:t>
            </a: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Climate data is summarized in a dashboard using </a:t>
            </a:r>
            <a:r>
              <a:rPr 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metabase</a:t>
            </a:r>
            <a:r>
              <a:rPr 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venir Next LT Pro Light"/>
                <a:cs typeface="Times New Roman"/>
              </a:rPr>
              <a:t>.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venir Next LT Pro Light"/>
            </a:endParaRPr>
          </a:p>
          <a:p>
            <a:pPr marL="0" indent="0" algn="ctr">
              <a:buNone/>
            </a:pPr>
            <a:endParaRPr lang="en-US" sz="1800" dirty="0">
              <a:latin typeface="Neue Haas Grotesk Text Pro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4799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156B-7F05-C007-2C97-D44ADB7D4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anchor="ctr">
            <a:normAutofit/>
          </a:bodyPr>
          <a:lstStyle/>
          <a:p>
            <a:r>
              <a:rPr lang="en-US" sz="3000" dirty="0">
                <a:solidFill>
                  <a:schemeClr val="accent5"/>
                </a:solidFill>
              </a:rPr>
              <a:t>Data </a:t>
            </a:r>
            <a:r>
              <a:rPr lang="en-US" sz="3000">
                <a:solidFill>
                  <a:schemeClr val="accent5"/>
                </a:solidFill>
              </a:rPr>
              <a:t>Acquisition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B5BFF-E043-70DB-4490-4EF544349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134" y="2046225"/>
            <a:ext cx="5600367" cy="418008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buFont typeface="Wingdings" panose="020B0604020202020204" pitchFamily="34" charset="0"/>
              <a:buChar char="Ø"/>
            </a:pPr>
            <a:r>
              <a:rPr lang="en-US" sz="2400"/>
              <a:t>Download the Census and NOAA Data</a:t>
            </a:r>
            <a:endParaRPr lang="en-US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>
                <a:solidFill>
                  <a:srgbClr val="1F2328"/>
                </a:solidFill>
                <a:highlight>
                  <a:srgbClr val="FFFFFF"/>
                </a:highlight>
              </a:rPr>
              <a:t>Looked for formatting issues and nulls and duplicates</a:t>
            </a:r>
            <a:endParaRPr lang="en-US" sz="2400"/>
          </a:p>
          <a:p>
            <a:pPr marL="1028700" lvl="1" indent="-342900">
              <a:buFont typeface="Wingdings" panose="020B0604020202020204" pitchFamily="34" charset="0"/>
              <a:buChar char="q"/>
            </a:pPr>
            <a:r>
              <a:rPr lang="en-US" sz="2400">
                <a:solidFill>
                  <a:srgbClr val="1F2328"/>
                </a:solidFill>
                <a:highlight>
                  <a:srgbClr val="FFFFFF"/>
                </a:highlight>
              </a:rPr>
              <a:t>For example: </a:t>
            </a:r>
            <a:endParaRPr lang="en-US" sz="2400"/>
          </a:p>
          <a:p>
            <a:pPr lvl="1">
              <a:lnSpc>
                <a:spcPct val="100000"/>
              </a:lnSpc>
              <a:buFont typeface="Wingdings" panose="020B0604020202020204" pitchFamily="34" charset="0"/>
              <a:buChar char="q"/>
            </a:pPr>
            <a:endParaRPr lang="en-US" sz="2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71F476-26EF-A344-4AE4-46C01F374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104" y="3995000"/>
            <a:ext cx="6762750" cy="207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03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FC516-6726-D338-08B7-5E8C65CDF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anchor="ctr">
            <a:normAutofit/>
          </a:bodyPr>
          <a:lstStyle/>
          <a:p>
            <a:r>
              <a:rPr lang="en-US" sz="3000">
                <a:solidFill>
                  <a:schemeClr val="accent5"/>
                </a:solidFill>
              </a:rPr>
              <a:t>Data Cleaning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CC8276-55C1-9F03-D553-1B86CF6D4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5061" y="1533574"/>
            <a:ext cx="4969957" cy="417713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/>
              <a:t>Census Data</a:t>
            </a:r>
            <a:endParaRPr lang="en-US" sz="2400" dirty="0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/>
              <a:t>Transpose</a:t>
            </a:r>
            <a:endParaRPr lang="en-US" sz="2400" dirty="0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/>
              <a:t>Change from text to int</a:t>
            </a:r>
            <a:endParaRPr lang="en-US" sz="2400" dirty="0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/>
              <a:t>Add colum</a:t>
            </a:r>
            <a:r>
              <a:rPr lang="en-US" sz="2400"/>
              <a:t>n names and remove first row</a:t>
            </a:r>
            <a:endParaRPr lang="en-US" sz="2400" dirty="0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/>
              <a:t>Alter column names to remove blank space</a:t>
            </a:r>
            <a:endParaRPr lang="en-US" sz="2400" dirty="0"/>
          </a:p>
          <a:p>
            <a:pPr>
              <a:buFont typeface="Wingdings" panose="020B0604020202020204" pitchFamily="34" charset="0"/>
              <a:buChar char="Ø"/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461EC2-1E06-0FB8-BD27-A09767224E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3665" y="1523916"/>
            <a:ext cx="5181600" cy="4180822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400"/>
              <a:t>NOAA Climate Data</a:t>
            </a:r>
          </a:p>
          <a:p>
            <a:pPr marL="457200" indent="-457200">
              <a:buFont typeface="Wingdings,Sans-Serif"/>
              <a:buChar char="Ø"/>
            </a:pPr>
            <a:r>
              <a:rPr lang="en-US" sz="2400"/>
              <a:t>Drop duplicates</a:t>
            </a:r>
          </a:p>
          <a:p>
            <a:pPr marL="457200" indent="-457200">
              <a:buFont typeface="Wingdings,Sans-Serif"/>
              <a:buChar char="Ø"/>
            </a:pPr>
            <a:r>
              <a:rPr lang="en-US" sz="2400"/>
              <a:t>Drop nulls</a:t>
            </a:r>
            <a:endParaRPr lang="en-US"/>
          </a:p>
          <a:p>
            <a:pPr marL="0" indent="0">
              <a:buNone/>
            </a:pPr>
            <a:endParaRPr lang="en-US" dirty="0"/>
          </a:p>
          <a:p>
            <a:pPr marL="457200" indent="-457200">
              <a:buFont typeface="Wingdings" panose="020B0604020202020204" pitchFamily="34" charset="0"/>
              <a:buChar char="Ø"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C6846A-AF5A-9AA9-F209-0D6821FEB1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890" y="3852192"/>
            <a:ext cx="4682276" cy="256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84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BDAFB-B510-6232-1F4D-71E56CAD9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30E8-3445-D06E-30FD-B636E6B1B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054" y="457200"/>
            <a:ext cx="10309745" cy="1233488"/>
          </a:xfrm>
        </p:spPr>
        <p:txBody>
          <a:bodyPr anchor="b">
            <a:normAutofit/>
          </a:bodyPr>
          <a:lstStyle/>
          <a:p>
            <a:r>
              <a:rPr lang="en-US">
                <a:solidFill>
                  <a:schemeClr val="accent5"/>
                </a:solidFill>
              </a:rPr>
              <a:t>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579F6-A730-586F-F83B-F808E435B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68134" y="1996141"/>
            <a:ext cx="5311026" cy="418082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dirty="0">
                <a:highlight>
                  <a:srgbClr val="FFFFFF"/>
                </a:highlight>
              </a:rPr>
              <a:t>Tables were created for queries to better use </a:t>
            </a:r>
            <a:r>
              <a:rPr lang="en-US" dirty="0" err="1">
                <a:highlight>
                  <a:srgbClr val="FFFFFF"/>
                </a:highlight>
              </a:rPr>
              <a:t>metabase</a:t>
            </a:r>
            <a:endParaRPr lang="en-US" dirty="0">
              <a:highlight>
                <a:srgbClr val="FFFFFF"/>
              </a:highlight>
            </a:endParaRPr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dirty="0">
                <a:highlight>
                  <a:srgbClr val="FFFFFF"/>
                </a:highlight>
              </a:rPr>
              <a:t>4 queries were made </a:t>
            </a:r>
          </a:p>
          <a:p>
            <a:pPr marL="1028700" lvl="1" indent="-342900">
              <a:buFont typeface="Wingdings" panose="020B0604020202020204" pitchFamily="34" charset="0"/>
              <a:buChar char="q"/>
            </a:pPr>
            <a:r>
              <a:rPr lang="en-US" dirty="0">
                <a:highlight>
                  <a:srgbClr val="FFFFFF"/>
                </a:highlight>
              </a:rPr>
              <a:t>Later graphs and tables were created based on the queries </a:t>
            </a:r>
          </a:p>
          <a:p>
            <a:pPr marL="457200" indent="-457200">
              <a:buFont typeface="Wingdings" panose="020B0604020202020204" pitchFamily="34" charset="0"/>
              <a:buChar char="Ø"/>
            </a:pPr>
            <a:endParaRPr lang="en-US" dirty="0">
              <a:highlight>
                <a:srgbClr val="FFFFFF"/>
              </a:highlight>
            </a:endParaRPr>
          </a:p>
          <a:p>
            <a:pPr marL="457200" indent="-457200">
              <a:buFont typeface="Wingdings" panose="020B0604020202020204" pitchFamily="34" charset="0"/>
              <a:buChar char="Ø"/>
            </a:pPr>
            <a:endParaRPr lang="en-US" dirty="0"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38764A99-414A-F597-E18C-04FBB47689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10111" y="6409170"/>
            <a:ext cx="3702392" cy="448830"/>
          </a:xfrm>
        </p:spPr>
        <p:txBody>
          <a:bodyPr/>
          <a:lstStyle/>
          <a:p>
            <a:pPr>
              <a:spcAft>
                <a:spcPts val="600"/>
              </a:spcAft>
            </a:pPr>
            <a:fld id="{3CB23366-20ED-43DC-8611-B4F5AE044B39}" type="datetime1">
              <a:pPr>
                <a:spcAft>
                  <a:spcPts val="600"/>
                </a:spcAft>
              </a:pPr>
              <a:t>5/6/2026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E844209D-6566-0D93-2265-339596228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828801" y="1912217"/>
            <a:ext cx="4114800" cy="457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44271D9F-75EB-B10F-03B9-47E31A211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9678" y="6408742"/>
            <a:ext cx="438652" cy="448830"/>
          </a:xfrm>
        </p:spPr>
        <p:txBody>
          <a:bodyPr/>
          <a:lstStyle/>
          <a:p>
            <a:pPr>
              <a:spcAft>
                <a:spcPts val="600"/>
              </a:spcAft>
            </a:pPr>
            <a:fld id="{017DE1FC-E54A-4B87-A814-263D1E8654B2}" type="slidenum">
              <a:rPr lang="en-US" dirty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425AD3-0ECD-11AF-0130-2C0A1133D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78" y="4361172"/>
            <a:ext cx="11065099" cy="1384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F35095-9057-70A5-3707-34312659D7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7725" y="1996984"/>
            <a:ext cx="4762770" cy="206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605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B803-6248-5BB7-869C-20CB7EC8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000">
                <a:solidFill>
                  <a:schemeClr val="accent5"/>
                </a:solidFill>
              </a:rPr>
              <a:t>Data </a:t>
            </a:r>
            <a:r>
              <a:rPr lang="en-US" sz="3000" err="1">
                <a:solidFill>
                  <a:schemeClr val="accent5"/>
                </a:solidFill>
              </a:rPr>
              <a:t>Visualizat</a:t>
            </a:r>
            <a:r>
              <a:rPr lang="en-US" sz="3000">
                <a:solidFill>
                  <a:schemeClr val="accent5"/>
                </a:solidFill>
              </a:rPr>
              <a:t>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EB0D2-D56D-95DE-0627-26FE197ED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5360" y="2318139"/>
            <a:ext cx="10240903" cy="39561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/>
              <a:t>Data Visualization is based on chosen queries done in PostgresSQL </a:t>
            </a:r>
            <a:r>
              <a:rPr lang="en-US" sz="2400" dirty="0" err="1"/>
              <a:t>Metabase</a:t>
            </a:r>
            <a:r>
              <a:rPr lang="en-US" sz="2400" dirty="0"/>
              <a:t> for better visualization for the created query tables</a:t>
            </a:r>
            <a:endParaRPr lang="en-US" dirty="0"/>
          </a:p>
          <a:p>
            <a:pPr marL="457200" indent="-457200">
              <a:buFont typeface="Wingdings" panose="020B0604020202020204" pitchFamily="34" charset="0"/>
              <a:buChar char="Ø"/>
            </a:pPr>
            <a:r>
              <a:rPr lang="en-US" sz="2400" dirty="0">
                <a:ea typeface="+mn-lt"/>
                <a:cs typeface="+mn-lt"/>
              </a:rPr>
              <a:t>Census bar graphs were created using python </a:t>
            </a:r>
            <a:r>
              <a:rPr lang="en-US" sz="2400" dirty="0" err="1">
                <a:ea typeface="+mn-lt"/>
                <a:cs typeface="+mn-lt"/>
              </a:rPr>
              <a:t>matplotlib</a:t>
            </a:r>
            <a:r>
              <a:rPr lang="en-US" sz="2400" dirty="0">
                <a:ea typeface="+mn-lt"/>
                <a:cs typeface="+mn-lt"/>
              </a:rPr>
              <a:t> to accompany climate visualization </a:t>
            </a:r>
          </a:p>
          <a:p>
            <a:pPr>
              <a:buFont typeface="Wingdings" panose="020B0604020202020204" pitchFamily="34" charset="0"/>
              <a:buChar char="Ø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20B0604020202020204" pitchFamily="34" charset="0"/>
              <a:buChar char="Ø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67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14BDE-43BB-B9C5-C507-3A299DD9A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BFB0EA4-F947-D6A2-8044-97E149884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877" y="3652491"/>
            <a:ext cx="3303731" cy="1709928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Maximum in </a:t>
            </a:r>
            <a:r>
              <a:rPr lang="en-US" sz="2400" b="0">
                <a:solidFill>
                  <a:srgbClr val="DA002F"/>
                </a:solidFill>
                <a:latin typeface="Avenir Next LT Pro"/>
              </a:rPr>
              <a:t>temperature</a:t>
            </a:r>
            <a:br>
              <a:rPr lang="en-US" sz="2400" b="0" dirty="0">
                <a:solidFill>
                  <a:srgbClr val="DA002F"/>
                </a:solidFill>
                <a:latin typeface="Avenir Next LT Pro"/>
              </a:rPr>
            </a:br>
            <a:r>
              <a:rPr lang="en-US" sz="2400" b="0">
                <a:solidFill>
                  <a:srgbClr val="DA002F"/>
                </a:solidFill>
                <a:latin typeface="Avenir Next LT Pro"/>
              </a:rPr>
              <a:t>By months </a:t>
            </a:r>
            <a:endParaRPr lang="en-US" sz="2400" b="0">
              <a:solidFill>
                <a:srgbClr val="DA002F"/>
              </a:solidFill>
            </a:endParaRPr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CA3348-CDBE-059C-B05C-DF4D1F451950}"/>
              </a:ext>
            </a:extLst>
          </p:cNvPr>
          <p:cNvSpPr txBox="1"/>
          <p:nvPr/>
        </p:nvSpPr>
        <p:spPr>
          <a:xfrm>
            <a:off x="5899812" y="5747054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>
                <a:solidFill>
                  <a:srgbClr val="000000"/>
                </a:solidFill>
                <a:latin typeface="Avenir Next LT Pro"/>
              </a:rPr>
              <a:t>Previous SQL Query and Metabase to Visualize</a:t>
            </a:r>
            <a:endParaRPr lang="en-US" sz="140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E75264A-1FBB-6724-016D-346F06752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6564" y="1743159"/>
            <a:ext cx="7768557" cy="381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403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604F-7BBF-2807-3CE2-CABF16F59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A1D2B49-DADD-414C-E528-EDB8A520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877" y="3652491"/>
            <a:ext cx="3303731" cy="1709928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Averages in </a:t>
            </a:r>
            <a:r>
              <a:rPr lang="en-US" sz="2400" b="0">
                <a:solidFill>
                  <a:srgbClr val="DA002F"/>
                </a:solidFill>
                <a:latin typeface="Avenir Next LT Pro"/>
              </a:rPr>
              <a:t>temperatureBy month</a:t>
            </a:r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 </a:t>
            </a:r>
            <a:endParaRPr lang="en-US" sz="2400" b="0" dirty="0">
              <a:solidFill>
                <a:srgbClr val="DA002F"/>
              </a:solidFill>
            </a:endParaRPr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A8394-3477-20EC-2D17-7D19965D7FBD}"/>
              </a:ext>
            </a:extLst>
          </p:cNvPr>
          <p:cNvSpPr txBox="1"/>
          <p:nvPr/>
        </p:nvSpPr>
        <p:spPr>
          <a:xfrm>
            <a:off x="5899812" y="5747054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>
                <a:solidFill>
                  <a:srgbClr val="000000"/>
                </a:solidFill>
                <a:latin typeface="Avenir Next LT Pro"/>
              </a:rPr>
              <a:t>Previous SQL Query and Metabase to Visualize</a:t>
            </a:r>
            <a:endParaRPr lang="en-US" sz="140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0A78EE-B8B1-F6ED-67F3-944522266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122" y="1495581"/>
            <a:ext cx="7718040" cy="3776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863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CB309-B20B-18F4-070B-C2430691B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69F750B-8F92-7E74-4C71-BB0686CC8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562" y="3171228"/>
            <a:ext cx="3424046" cy="2191191"/>
          </a:xfrm>
        </p:spPr>
        <p:txBody>
          <a:bodyPr vert="horz" lIns="0" tIns="0" rIns="0" bIns="0" rtlCol="0" anchor="b">
            <a:noAutofit/>
          </a:bodyPr>
          <a:lstStyle/>
          <a:p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Minimum </a:t>
            </a:r>
            <a:r>
              <a:rPr lang="en-US" sz="2400" b="0">
                <a:solidFill>
                  <a:srgbClr val="DA002F"/>
                </a:solidFill>
                <a:latin typeface="Avenir Next LT Pro"/>
              </a:rPr>
              <a:t>temperatures</a:t>
            </a:r>
            <a:br>
              <a:rPr lang="en-US" sz="2400" b="0" dirty="0">
                <a:solidFill>
                  <a:srgbClr val="DA002F"/>
                </a:solidFill>
                <a:latin typeface="Avenir Next LT Pro"/>
              </a:rPr>
            </a:br>
            <a:r>
              <a:rPr lang="en-US" sz="2400" b="0">
                <a:solidFill>
                  <a:srgbClr val="DA002F"/>
                </a:solidFill>
                <a:latin typeface="Avenir Next LT Pro"/>
              </a:rPr>
              <a:t>By Month </a:t>
            </a:r>
            <a:endParaRPr lang="en-US" sz="2400" b="0">
              <a:solidFill>
                <a:srgbClr val="DA002F"/>
              </a:solidFill>
            </a:endParaRPr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4878CF-45AA-1A24-9E1B-77A2E3842D97}"/>
              </a:ext>
            </a:extLst>
          </p:cNvPr>
          <p:cNvSpPr txBox="1"/>
          <p:nvPr/>
        </p:nvSpPr>
        <p:spPr>
          <a:xfrm>
            <a:off x="5899812" y="5747054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>
                <a:solidFill>
                  <a:srgbClr val="000000"/>
                </a:solidFill>
                <a:latin typeface="Avenir Next LT Pro"/>
              </a:rPr>
              <a:t>Previous SQL Query and Metabase to Visualize</a:t>
            </a:r>
            <a:endParaRPr lang="en-US" sz="140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5" name="Picture 4" descr="A graph of the temperature of the year&#10;&#10;AI-generated content may be incorrect.">
            <a:extLst>
              <a:ext uri="{FF2B5EF4-FFF2-40B4-BE49-F238E27FC236}">
                <a16:creationId xmlns:a16="http://schemas.microsoft.com/office/drawing/2014/main" id="{ED13A5C1-C80C-7331-F0BA-0A6EA5DE2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468" y="1319213"/>
            <a:ext cx="7915275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063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233D8-8DAC-76E5-9DF5-FE1BCB114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086EE0B8-A88B-B204-D085-6296C7A3A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142745" cy="1720660"/>
          </a:xfrm>
        </p:spPr>
        <p:txBody>
          <a:bodyPr vert="horz" lIns="0" tIns="0" rIns="0" bIns="0" rtlCol="0" anchor="ctr">
            <a:noAutofit/>
          </a:bodyPr>
          <a:lstStyle/>
          <a:p>
            <a:endParaRPr lang="en-US" sz="2400" b="0" dirty="0">
              <a:solidFill>
                <a:srgbClr val="DA002F"/>
              </a:solidFill>
            </a:endParaRPr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ACF62BA9-EF28-ACFB-EDE0-26CAC84B80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/>
              <a:t>Anomalies are higher </a:t>
            </a:r>
            <a:r>
              <a:rPr lang="en-US" sz="2400"/>
              <a:t>in Harrisburg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8FEF90-7918-D909-0C41-BB66448D4396}"/>
              </a:ext>
            </a:extLst>
          </p:cNvPr>
          <p:cNvSpPr txBox="1"/>
          <p:nvPr/>
        </p:nvSpPr>
        <p:spPr>
          <a:xfrm>
            <a:off x="4053840" y="5908040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>
                <a:solidFill>
                  <a:srgbClr val="000000"/>
                </a:solidFill>
                <a:latin typeface="Avenir Next LT Pro"/>
              </a:rPr>
              <a:t>Previous SQL Query and Metabase to Visualize</a:t>
            </a:r>
            <a:endParaRPr lang="en-US" sz="140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F94C4E-E816-AC36-C380-9CE8423BC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130" y="2574649"/>
            <a:ext cx="6734175" cy="230505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15F6D41-552C-6C00-230B-FD9A5CBE6382}"/>
              </a:ext>
            </a:extLst>
          </p:cNvPr>
          <p:cNvSpPr txBox="1">
            <a:spLocks/>
          </p:cNvSpPr>
          <p:nvPr/>
        </p:nvSpPr>
        <p:spPr>
          <a:xfrm>
            <a:off x="870397" y="1264891"/>
            <a:ext cx="3303731" cy="1709928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 </a:t>
            </a:r>
            <a:r>
              <a:rPr lang="en-US" sz="2400" b="0">
                <a:solidFill>
                  <a:srgbClr val="DA002F"/>
                </a:solidFill>
                <a:latin typeface="Avenir Next LT Pro"/>
              </a:rPr>
              <a:t>Anomalies</a:t>
            </a:r>
            <a:r>
              <a:rPr lang="en-US" sz="2000" dirty="0">
                <a:solidFill>
                  <a:srgbClr val="DA002F"/>
                </a:solidFill>
                <a:latin typeface="Avenir Next LT Pro"/>
              </a:rPr>
              <a:t> </a:t>
            </a:r>
            <a:endParaRPr lang="en-US" sz="2000" dirty="0">
              <a:solidFill>
                <a:srgbClr val="DA002F"/>
              </a:solidFill>
            </a:endParaRPr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839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52076-6135-7C0E-88F8-0CD5335A9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2535C34-2225-2C26-8A88-21D2FD5D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755" y="457200"/>
            <a:ext cx="3932237" cy="1921434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700">
                <a:solidFill>
                  <a:schemeClr val="accent5"/>
                </a:solidFill>
              </a:rPr>
              <a:t>Beyond Temperature:</a:t>
            </a:r>
            <a:br>
              <a:rPr lang="en-US" sz="2700" b="0" dirty="0">
                <a:solidFill>
                  <a:schemeClr val="accent5"/>
                </a:solidFill>
              </a:rPr>
            </a:br>
            <a:r>
              <a:rPr lang="en-US" sz="2700" b="0">
                <a:solidFill>
                  <a:schemeClr val="accent5"/>
                </a:solidFill>
              </a:rPr>
              <a:t>Climate Variables</a:t>
            </a:r>
            <a:br>
              <a:rPr lang="en-US" sz="2700" b="0" dirty="0">
                <a:solidFill>
                  <a:schemeClr val="accent5"/>
                </a:solidFill>
              </a:rPr>
            </a:br>
            <a:r>
              <a:rPr lang="en-US" sz="2700" b="0">
                <a:solidFill>
                  <a:schemeClr val="accent5"/>
                </a:solidFill>
              </a:rPr>
              <a:t>By Month</a:t>
            </a:r>
            <a:r>
              <a:rPr lang="en-US" sz="2700" b="0" dirty="0"/>
              <a:t> </a:t>
            </a:r>
          </a:p>
          <a:p>
            <a:pPr>
              <a:lnSpc>
                <a:spcPct val="90000"/>
              </a:lnSpc>
            </a:pPr>
            <a:endParaRPr lang="en-US" sz="27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D2526-2E45-055E-6BFD-0ECA3587D024}"/>
              </a:ext>
            </a:extLst>
          </p:cNvPr>
          <p:cNvSpPr txBox="1"/>
          <p:nvPr/>
        </p:nvSpPr>
        <p:spPr>
          <a:xfrm>
            <a:off x="4512810" y="5463091"/>
            <a:ext cx="3932237" cy="275803"/>
          </a:xfrm>
          <a:prstGeom prst="rect">
            <a:avLst/>
          </a:prstGeom>
        </p:spPr>
        <p:txBody>
          <a:bodyPr rot="0" spcFirstLastPara="0" vertOverflow="overflow" horzOverflow="overflow" vert="horz" lIns="0" tIns="0" rIns="0" bIns="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1600" kern="1200" baseline="0" dirty="0" err="1"/>
              <a:t>Metabase</a:t>
            </a:r>
            <a:r>
              <a:rPr lang="en-US" sz="1600" kern="1200" baseline="0" dirty="0"/>
              <a:t> to Visualize</a:t>
            </a:r>
            <a:endParaRPr lang="en-US" sz="1600" kern="1200" dirty="0"/>
          </a:p>
          <a:p>
            <a:pPr>
              <a:spcBef>
                <a:spcPts val="1000"/>
              </a:spcBef>
            </a:pPr>
            <a:endParaRPr lang="en-US" sz="1600" kern="1200"/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33F3267B-37FF-B1B1-E1B3-3BB8CB72C6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10111" y="6409170"/>
            <a:ext cx="3702392" cy="448830"/>
          </a:xfrm>
        </p:spPr>
        <p:txBody>
          <a:bodyPr/>
          <a:lstStyle/>
          <a:p>
            <a:pPr>
              <a:spcAft>
                <a:spcPts val="600"/>
              </a:spcAft>
            </a:pPr>
            <a:fld id="{DA251291-D7EE-4322-A698-ABAAAAE5EF88}" type="datetime1">
              <a:pPr>
                <a:spcAft>
                  <a:spcPts val="600"/>
                </a:spcAft>
              </a:pPr>
              <a:t>5/6/2026</a:t>
            </a:fld>
            <a:endParaRPr lang="en-US"/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C8D49270-7C8B-90A1-979F-973C2CE27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828801" y="1912217"/>
            <a:ext cx="4114800" cy="457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40DCD0C6-86EB-FC4B-2974-1074E6FE0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9678" y="6408742"/>
            <a:ext cx="438652" cy="448830"/>
          </a:xfrm>
        </p:spPr>
        <p:txBody>
          <a:bodyPr/>
          <a:lstStyle/>
          <a:p>
            <a:pPr>
              <a:spcAft>
                <a:spcPts val="600"/>
              </a:spcAft>
            </a:pPr>
            <a:fld id="{017DE1FC-E54A-4B87-A814-263D1E8654B2}" type="slidenum">
              <a:rPr lang="en-US" dirty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3" name="Picture 2" descr="A graph of blue and green vertical bars&#10;&#10;AI-generated content may be incorrect.">
            <a:extLst>
              <a:ext uri="{FF2B5EF4-FFF2-40B4-BE49-F238E27FC236}">
                <a16:creationId xmlns:a16="http://schemas.microsoft.com/office/drawing/2014/main" id="{A0B4DC99-FFB9-2F67-AF48-0E0B7CC8D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7774" y="2142920"/>
            <a:ext cx="6131928" cy="2968626"/>
          </a:xfrm>
          <a:prstGeom prst="rect">
            <a:avLst/>
          </a:prstGeom>
        </p:spPr>
      </p:pic>
      <p:pic>
        <p:nvPicPr>
          <p:cNvPr id="2" name="Picture 1" descr="A graph with blue and green bars&#10;&#10;AI-generated content may be incorrect.">
            <a:extLst>
              <a:ext uri="{FF2B5EF4-FFF2-40B4-BE49-F238E27FC236}">
                <a16:creationId xmlns:a16="http://schemas.microsoft.com/office/drawing/2014/main" id="{711D6FF1-36A7-2801-C16E-85C942253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6" y="2139926"/>
            <a:ext cx="5983406" cy="294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52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BEBC-17DB-7F0B-A7CD-18249332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CC25D589-46D4-A6FC-9CEB-1B18C52E4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169088" cy="1225019"/>
          </a:xfrm>
        </p:spPr>
        <p:txBody>
          <a:bodyPr vert="horz" lIns="0" tIns="0" rIns="0" bIns="0" rtlCol="0" anchor="ctr">
            <a:noAutofit/>
          </a:bodyPr>
          <a:lstStyle/>
          <a:p>
            <a:r>
              <a:rPr lang="en-US" sz="2400" b="0">
                <a:solidFill>
                  <a:srgbClr val="DA002F"/>
                </a:solidFill>
                <a:latin typeface="Avenir Next LT Pro"/>
              </a:rPr>
              <a:t>Heatmap</a:t>
            </a:r>
            <a:endParaRPr lang="en-US" sz="2400" b="0">
              <a:solidFill>
                <a:srgbClr val="DA002F"/>
              </a:solidFill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CD6A4F27-2255-1462-A9B8-E6C29B7A5C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99160" y="3427984"/>
            <a:ext cx="3099816" cy="2057400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dirty="0"/>
              <a:t>Average monthly temperature is very similar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8DF60-9F15-BE52-C0F5-0EBC6DE1E55D}"/>
              </a:ext>
            </a:extLst>
          </p:cNvPr>
          <p:cNvSpPr txBox="1"/>
          <p:nvPr/>
        </p:nvSpPr>
        <p:spPr>
          <a:xfrm>
            <a:off x="4053840" y="5908040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>
                <a:solidFill>
                  <a:srgbClr val="000000"/>
                </a:solidFill>
                <a:latin typeface="Avenir Next LT Pro"/>
              </a:rPr>
              <a:t>Previous SQL Query and Metabase to Visualize</a:t>
            </a:r>
            <a:endParaRPr lang="en-US" sz="140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2" name="Picture 1" descr="A graph showing temperature and heatmap&#10;&#10;AI-generated content may be incorrect.">
            <a:extLst>
              <a:ext uri="{FF2B5EF4-FFF2-40B4-BE49-F238E27FC236}">
                <a16:creationId xmlns:a16="http://schemas.microsoft.com/office/drawing/2014/main" id="{ABA6FA2E-5CE3-300B-4D30-197909A78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726" y="477671"/>
            <a:ext cx="6841325" cy="542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085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2B5C0-29CD-8362-3948-2363475D4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5F94867D-8CDA-CAA5-5786-34848ACF3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582773" cy="1709928"/>
          </a:xfrm>
        </p:spPr>
        <p:txBody>
          <a:bodyPr vert="horz" lIns="0" tIns="0" rIns="0" bIns="0" rtlCol="0" anchor="ctr">
            <a:noAutofit/>
          </a:bodyPr>
          <a:lstStyle/>
          <a:p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Which city has a larger </a:t>
            </a:r>
            <a:r>
              <a:rPr lang="en-US" sz="2400" b="0">
                <a:solidFill>
                  <a:srgbClr val="DA002F"/>
                </a:solidFill>
                <a:latin typeface="Avenir Next LT Pro"/>
              </a:rPr>
              <a:t>community </a:t>
            </a:r>
            <a:r>
              <a:rPr lang="en-US" sz="2400" b="0" dirty="0">
                <a:solidFill>
                  <a:srgbClr val="DA002F"/>
                </a:solidFill>
                <a:latin typeface="Avenir Next LT Pro"/>
              </a:rPr>
              <a:t>of color?</a:t>
            </a:r>
            <a:endParaRPr lang="en-US" sz="2400" b="0" dirty="0"/>
          </a:p>
          <a:p>
            <a:endParaRPr lang="en-US" sz="2800" dirty="0">
              <a:solidFill>
                <a:schemeClr val="accent5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2F9F695-B1DF-7A35-BC83-7563AD72FA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Avenir Next LT Pro Light"/>
              </a:rPr>
              <a:t>Dauphin County has a much higher community of </a:t>
            </a:r>
            <a:r>
              <a:rPr lang="en-US" sz="2400">
                <a:solidFill>
                  <a:srgbClr val="000000"/>
                </a:solidFill>
                <a:latin typeface="Avenir Next LT Pro Light"/>
              </a:rPr>
              <a:t>color in all populations</a:t>
            </a:r>
            <a:endParaRPr lang="en-US" sz="2400"/>
          </a:p>
          <a:p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FAF1AB-6359-36DE-590A-CE044D0DA8AC}"/>
              </a:ext>
            </a:extLst>
          </p:cNvPr>
          <p:cNvSpPr txBox="1"/>
          <p:nvPr/>
        </p:nvSpPr>
        <p:spPr>
          <a:xfrm>
            <a:off x="4053840" y="5908040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 dirty="0">
                <a:solidFill>
                  <a:srgbClr val="000000"/>
                </a:solidFill>
                <a:latin typeface="Avenir Next LT Pro"/>
              </a:rPr>
              <a:t>Previous SQL Query 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and</a:t>
            </a:r>
            <a:r>
              <a:rPr lang="en-US" sz="1400" baseline="0" dirty="0">
                <a:solidFill>
                  <a:srgbClr val="000000"/>
                </a:solidFill>
                <a:latin typeface="Avenir Next LT Pro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Python </a:t>
            </a:r>
            <a:r>
              <a:rPr lang="en-US" sz="1400" baseline="0" dirty="0">
                <a:solidFill>
                  <a:srgbClr val="000000"/>
                </a:solidFill>
                <a:latin typeface="Avenir Next LT Pro"/>
              </a:rPr>
              <a:t>to Visualize</a:t>
            </a:r>
            <a:endParaRPr lang="en-US" sz="1400" dirty="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4" name="Picture 3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AFFC9FBB-E582-9EF6-F1A6-4F190AB8C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506" y="321811"/>
            <a:ext cx="7663815" cy="5174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669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69791-40D7-524B-56DF-D40EA8F35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08E29AE-031B-EA7C-96B2-8D48CBFE0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169088" cy="1225019"/>
          </a:xfrm>
        </p:spPr>
        <p:txBody>
          <a:bodyPr vert="horz" lIns="0" tIns="0" rIns="0" bIns="0" rtlCol="0" anchor="ctr">
            <a:noAutofit/>
          </a:bodyPr>
          <a:lstStyle/>
          <a:p>
            <a:r>
              <a:rPr lang="en-US" sz="2400" b="0">
                <a:solidFill>
                  <a:srgbClr val="DA002F"/>
                </a:solidFill>
                <a:latin typeface="Avenir Next LT Pro"/>
              </a:rPr>
              <a:t>does this change over time?</a:t>
            </a:r>
            <a:endParaRPr lang="en-US" sz="24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DBA8D49-E472-228D-BA70-006838A52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6963" y="2934294"/>
            <a:ext cx="3350024" cy="219387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Char char="•"/>
            </a:pPr>
            <a:r>
              <a:rPr lang="en-US" sz="2400" dirty="0"/>
              <a:t>Community of color over time has </a:t>
            </a:r>
            <a:r>
              <a:rPr lang="en-US" sz="2400"/>
              <a:t>changed more in at Dauphin County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133B0-6598-0367-8693-0E2BBB63D5C5}"/>
              </a:ext>
            </a:extLst>
          </p:cNvPr>
          <p:cNvSpPr txBox="1"/>
          <p:nvPr/>
        </p:nvSpPr>
        <p:spPr>
          <a:xfrm>
            <a:off x="6567303" y="5748816"/>
            <a:ext cx="409448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aseline="0" dirty="0">
                <a:solidFill>
                  <a:srgbClr val="000000"/>
                </a:solidFill>
                <a:latin typeface="Avenir Next LT Pro"/>
              </a:rPr>
              <a:t>Previous SQL Query and </a:t>
            </a:r>
            <a:r>
              <a:rPr lang="en-US" sz="1400" dirty="0" err="1">
                <a:solidFill>
                  <a:srgbClr val="000000"/>
                </a:solidFill>
                <a:latin typeface="Avenir Next LT Pro"/>
              </a:rPr>
              <a:t>Pyth</a:t>
            </a:r>
            <a:r>
              <a:rPr lang="en-US" sz="1400" dirty="0">
                <a:solidFill>
                  <a:srgbClr val="000000"/>
                </a:solidFill>
                <a:latin typeface="Avenir Next LT Pro"/>
              </a:rPr>
              <a:t>on </a:t>
            </a:r>
            <a:r>
              <a:rPr lang="en-US" sz="1400" baseline="0" dirty="0">
                <a:solidFill>
                  <a:srgbClr val="000000"/>
                </a:solidFill>
                <a:latin typeface="Avenir Next LT Pro"/>
              </a:rPr>
              <a:t>to Visualize</a:t>
            </a:r>
            <a:endParaRPr lang="en-US" sz="1400" dirty="0">
              <a:solidFill>
                <a:srgbClr val="000000"/>
              </a:solidFill>
              <a:latin typeface="Avenir Next LT Pro"/>
            </a:endParaRPr>
          </a:p>
          <a:p>
            <a:pPr algn="ctr"/>
            <a:endParaRPr lang="en-US" sz="1400">
              <a:solidFill>
                <a:srgbClr val="000000"/>
              </a:solidFill>
              <a:latin typeface="Avenir Next LT Pro"/>
            </a:endParaRPr>
          </a:p>
        </p:txBody>
      </p:sp>
      <p:pic>
        <p:nvPicPr>
          <p:cNvPr id="4" name="Picture 3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0289E7BE-C841-6325-4FDB-332043A6B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495" y="1182804"/>
            <a:ext cx="7775786" cy="456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443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3D98-DF18-8E02-CAF6-FF4AE3193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ctr">
            <a:normAutofit/>
          </a:bodyPr>
          <a:lstStyle/>
          <a:p>
            <a:r>
              <a:rPr lang="en-US" sz="3000">
                <a:solidFill>
                  <a:schemeClr val="accent5"/>
                </a:solidFill>
              </a:rPr>
              <a:t>Citations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891DF-336C-4944-35E7-F6EE75A8E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0" rIns="0" bIns="0" rtlCol="0" anchor="t">
            <a:normAutofit/>
          </a:bodyPr>
          <a:lstStyle/>
          <a:p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Harrisburg-Lancaster-Lebanon-York, PA DMR - select your maps. </a:t>
            </a:r>
            <a:r>
              <a:rPr lang="en-US" sz="1800" dirty="0" err="1">
                <a:highlight>
                  <a:srgbClr val="FFFFFF"/>
                </a:highlight>
                <a:latin typeface="Avenir Next LT Pro Light"/>
                <a:cs typeface="Times New Roman"/>
              </a:rPr>
              <a:t>MarketMAPS</a:t>
            </a:r>
            <a:r>
              <a:rPr lang="en-US" sz="1800" dirty="0">
                <a:highlight>
                  <a:srgbClr val="FFFFFF"/>
                </a:highlight>
                <a:latin typeface="Avenir Next LT Pro Light"/>
                <a:cs typeface="Times New Roman"/>
              </a:rPr>
              <a:t>. (n.d.). https://www.marketmaps.com/dmr-maps/harrisburg-lancaster-lebanon-york-pa.aspx </a:t>
            </a:r>
            <a:endParaRPr lang="en-US" sz="1800">
              <a:latin typeface="Avenir Next LT Pro Light"/>
            </a:endParaRPr>
          </a:p>
          <a:p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Li, D., &amp; Bou-Zeid, E. (2013). Synergistic interactions between urban heat islands and heat waves: The impact in cities is larger than the sum of its parts. </a:t>
            </a:r>
            <a:r>
              <a:rPr lang="en-US" sz="1800" i="1">
                <a:highlight>
                  <a:srgbClr val="FFFFFF"/>
                </a:highlight>
                <a:latin typeface="Avenir Next LT Pro Light"/>
                <a:cs typeface="Times New Roman"/>
              </a:rPr>
              <a:t>Journal of Applied Meteorology and Climatology</a:t>
            </a:r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, </a:t>
            </a:r>
            <a:r>
              <a:rPr lang="en-US" sz="1800" i="1">
                <a:highlight>
                  <a:srgbClr val="FFFFFF"/>
                </a:highlight>
                <a:latin typeface="Avenir Next LT Pro Light"/>
                <a:cs typeface="Times New Roman"/>
              </a:rPr>
              <a:t>52</a:t>
            </a:r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(9), 2051–2064. </a:t>
            </a:r>
            <a:r>
              <a:rPr lang="en-US" sz="1800" u="sng" dirty="0">
                <a:highlight>
                  <a:srgbClr val="FFFFFF"/>
                </a:highlight>
                <a:latin typeface="Avenir Next LT Pro Light"/>
                <a:cs typeface="Times New Roman"/>
                <a:hlinkClick r:id="rId2"/>
              </a:rPr>
              <a:t>https://doi.org/10.1175/jamc-d-13-02.1</a:t>
            </a:r>
            <a:r>
              <a:rPr lang="en-US" sz="1800" dirty="0">
                <a:highlight>
                  <a:srgbClr val="FFFFFF"/>
                </a:highlight>
                <a:latin typeface="Avenir Next LT Pro Light"/>
                <a:cs typeface="Times New Roman"/>
              </a:rPr>
              <a:t> </a:t>
            </a:r>
            <a:endParaRPr lang="en-US" sz="1800">
              <a:highlight>
                <a:srgbClr val="C6C6C6"/>
              </a:highlight>
              <a:latin typeface="Avenir Next LT Pro Light"/>
              <a:cs typeface="Times New Roman"/>
            </a:endParaRPr>
          </a:p>
          <a:p>
            <a:r>
              <a:rPr lang="en-US" sz="1800">
                <a:highlight>
                  <a:srgbClr val="FFFFFF"/>
                </a:highlight>
                <a:latin typeface="Avenir Next LT Pro Light"/>
                <a:ea typeface="+mn-lt"/>
                <a:cs typeface="Times New Roman"/>
              </a:rPr>
              <a:t>Mapmaker: Redlining in the United States. Education. (n.d.). </a:t>
            </a:r>
            <a:r>
              <a:rPr lang="en-US" sz="1800" dirty="0">
                <a:highlight>
                  <a:srgbClr val="FFFFFF"/>
                </a:highlight>
                <a:latin typeface="Avenir Next LT Pro Light"/>
                <a:ea typeface="+mn-lt"/>
                <a:cs typeface="Times New Roman"/>
              </a:rPr>
              <a:t>https://education.nationalgeographic.org/resource/mapmaker-redlining-united-states/ </a:t>
            </a:r>
            <a:endParaRPr lang="en-US" sz="1800" dirty="0">
              <a:highlight>
                <a:srgbClr val="FFFFFF"/>
              </a:highlight>
              <a:latin typeface="Avenir Next LT Pro Light"/>
              <a:cs typeface="Times New Roman"/>
            </a:endParaRPr>
          </a:p>
          <a:p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Mirzaei, P. A., &amp; Haghighat, F. (2010). Approaches to study urban heat island – abilities and limitations. </a:t>
            </a:r>
            <a:r>
              <a:rPr lang="en-US" sz="1800" i="1">
                <a:highlight>
                  <a:srgbClr val="FFFFFF"/>
                </a:highlight>
                <a:latin typeface="Avenir Next LT Pro Light"/>
                <a:cs typeface="Times New Roman"/>
              </a:rPr>
              <a:t>Building and Environment</a:t>
            </a:r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, </a:t>
            </a:r>
            <a:r>
              <a:rPr lang="en-US" sz="1800" i="1">
                <a:highlight>
                  <a:srgbClr val="FFFFFF"/>
                </a:highlight>
                <a:latin typeface="Avenir Next LT Pro Light"/>
                <a:cs typeface="Times New Roman"/>
              </a:rPr>
              <a:t>45</a:t>
            </a:r>
            <a:r>
              <a:rPr lang="en-US" sz="1800">
                <a:highlight>
                  <a:srgbClr val="FFFFFF"/>
                </a:highlight>
                <a:latin typeface="Avenir Next LT Pro Light"/>
                <a:cs typeface="Times New Roman"/>
              </a:rPr>
              <a:t>(10), 2192–2201. </a:t>
            </a:r>
            <a:r>
              <a:rPr lang="en-US" sz="1800" u="sng" dirty="0">
                <a:highlight>
                  <a:srgbClr val="FFFFFF"/>
                </a:highlight>
                <a:latin typeface="Avenir Next LT Pro Light"/>
                <a:cs typeface="Times New Roman"/>
                <a:hlinkClick r:id="rId3"/>
              </a:rPr>
              <a:t>https://doi.org/10.1016/j.buildenv.2010.04.001</a:t>
            </a:r>
            <a:r>
              <a:rPr lang="en-US" sz="1800" dirty="0">
                <a:highlight>
                  <a:srgbClr val="FFFFFF"/>
                </a:highlight>
                <a:latin typeface="Avenir Next LT Pro Light"/>
                <a:cs typeface="Times New Roman"/>
              </a:rPr>
              <a:t> </a:t>
            </a:r>
            <a:endParaRPr lang="en-US" sz="1800" dirty="0">
              <a:highlight>
                <a:srgbClr val="C6C6C6"/>
              </a:highlight>
              <a:latin typeface="Avenir Next LT Pro Light"/>
              <a:cs typeface="Times New Roman"/>
            </a:endParaRPr>
          </a:p>
          <a:p>
            <a:endParaRPr lang="en-US" sz="1800" dirty="0">
              <a:highlight>
                <a:srgbClr val="FFFFFF"/>
              </a:highlight>
              <a:latin typeface="Times New Roman"/>
              <a:cs typeface="Times New Roman"/>
            </a:endParaRP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3E68B-3E0B-337D-7880-89DD3B3F3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83E24-65F8-4E30-9D74-DC5F7C974220}" type="datetime1">
              <a:rPr lang="en-US"/>
              <a:t>5/6/2026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1913C-16C2-850F-AA40-727F3D145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7D1710-0883-3DA4-753E-FD7C54DF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628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1ABFF-FA61-B9B8-8694-BF76929C1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966" y="681135"/>
            <a:ext cx="3932237" cy="1600200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en-US">
                <a:solidFill>
                  <a:schemeClr val="accent5"/>
                </a:solidFill>
              </a:rPr>
              <a:t>Thank You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48700C-FDF5-8105-F25C-42131A37B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8966" y="2281335"/>
            <a:ext cx="3932237" cy="3811588"/>
          </a:xfrm>
        </p:spPr>
        <p:txBody>
          <a:bodyPr vert="horz" lIns="0" tIns="0" rIns="0" bIns="0" rtlCol="0" anchor="ctr">
            <a:normAutofit/>
          </a:bodyPr>
          <a:lstStyle/>
          <a:p>
            <a:pPr algn="ctr"/>
            <a:r>
              <a:rPr lang="en-US" sz="2400"/>
              <a:t>Any Questions?</a:t>
            </a:r>
            <a:endParaRPr lang="en-US"/>
          </a:p>
          <a:p>
            <a:pPr algn="ctr"/>
            <a:r>
              <a:rPr lang="en-US" sz="2400"/>
              <a:t>Diazj2@etown.edu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A8F29C-29CF-80B8-4D7D-8AA74CD51F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10111" y="6409170"/>
            <a:ext cx="3702392" cy="44883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479C6AA-5118-4747-AF10-177EE4D40190}" type="datetime1">
              <a:rPr lang="en-US"/>
              <a:pPr>
                <a:spcAft>
                  <a:spcPts val="600"/>
                </a:spcAft>
              </a:pPr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1488-6343-3403-EF4D-712A170A0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1828801" y="1912217"/>
            <a:ext cx="4114800" cy="4572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
              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5596C4-3F1C-639D-4556-C4C394EB8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9678" y="6408742"/>
            <a:ext cx="438652" cy="44883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17DE1FC-E54A-4B87-A814-263D1E8654B2}" type="slidenum">
              <a:rPr lang="en-US" dirty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pic>
        <p:nvPicPr>
          <p:cNvPr id="10" name="Picture Placeholder 9" descr="Harrisburg-Lancaster-Lebanon-York DMR Wall Maps">
            <a:extLst>
              <a:ext uri="{FF2B5EF4-FFF2-40B4-BE49-F238E27FC236}">
                <a16:creationId xmlns:a16="http://schemas.microsoft.com/office/drawing/2014/main" id="{B7318B5A-A965-A139-2CD3-8E31106B2DD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9712" r="9712"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138283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RiseVTI">
  <a:themeElements>
    <a:clrScheme name="GradientRiseVTI">
      <a:dk1>
        <a:sysClr val="windowText" lastClr="000000"/>
      </a:dk1>
      <a:lt1>
        <a:srgbClr val="FFFFFF"/>
      </a:lt1>
      <a:dk2>
        <a:srgbClr val="3C0F3A"/>
      </a:dk2>
      <a:lt2>
        <a:srgbClr val="F1F2F2"/>
      </a:lt2>
      <a:accent1>
        <a:srgbClr val="A6025C"/>
      </a:accent1>
      <a:accent2>
        <a:srgbClr val="92248E"/>
      </a:accent2>
      <a:accent3>
        <a:srgbClr val="DE95C4"/>
      </a:accent3>
      <a:accent4>
        <a:srgbClr val="FE4A00"/>
      </a:accent4>
      <a:accent5>
        <a:srgbClr val="DA002F"/>
      </a:accent5>
      <a:accent6>
        <a:srgbClr val="FF907A"/>
      </a:accent6>
      <a:hlink>
        <a:srgbClr val="CA71E4"/>
      </a:hlink>
      <a:folHlink>
        <a:srgbClr val="E45E49"/>
      </a:folHlink>
    </a:clrScheme>
    <a:fontScheme name="GradientRiseVTI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GradientRi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VTI" id="{13C68A69-E745-489A-84EC-B7BCE4AA380B}" vid="{9CF7857A-9412-4E45-AB0D-6EAA5A7DC4C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688</Words>
  <Application>Microsoft Office PowerPoint</Application>
  <PresentationFormat>Widescreen</PresentationFormat>
  <Paragraphs>91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Avenir Next LT Pro</vt:lpstr>
      <vt:lpstr>Avenir Next LT Pro Light</vt:lpstr>
      <vt:lpstr>Calibri</vt:lpstr>
      <vt:lpstr>Neue Haas Grotesk Text Pro</vt:lpstr>
      <vt:lpstr>Times New Roman</vt:lpstr>
      <vt:lpstr>Wingdings</vt:lpstr>
      <vt:lpstr>Wingdings,Sans-Serif</vt:lpstr>
      <vt:lpstr>GradientRiseVTI</vt:lpstr>
      <vt:lpstr>Urban Heat Islands in  Central Pa</vt:lpstr>
      <vt:lpstr>Background and Goals</vt:lpstr>
      <vt:lpstr>Project scope</vt:lpstr>
      <vt:lpstr>Data Acquisition</vt:lpstr>
      <vt:lpstr>Data Cleaning</vt:lpstr>
      <vt:lpstr>SQL</vt:lpstr>
      <vt:lpstr>Data Visualization</vt:lpstr>
      <vt:lpstr>Maximum in temperature By months  </vt:lpstr>
      <vt:lpstr>Averages in temperatureBy month  </vt:lpstr>
      <vt:lpstr>Minimum temperatures By Month  </vt:lpstr>
      <vt:lpstr> </vt:lpstr>
      <vt:lpstr>Beyond Temperature: Climate Variables By Month  </vt:lpstr>
      <vt:lpstr>Heatmap</vt:lpstr>
      <vt:lpstr>Which city has a larger community of color? </vt:lpstr>
      <vt:lpstr>does this change over time?</vt:lpstr>
      <vt:lpstr>Citations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Heat Island</dc:title>
  <dc:creator>Diaz, Jay</dc:creator>
  <cp:lastModifiedBy>Diaz, Jay</cp:lastModifiedBy>
  <cp:revision>585</cp:revision>
  <dcterms:created xsi:type="dcterms:W3CDTF">2026-04-13T18:16:26Z</dcterms:created>
  <dcterms:modified xsi:type="dcterms:W3CDTF">2026-05-06T12:10:39Z</dcterms:modified>
</cp:coreProperties>
</file>