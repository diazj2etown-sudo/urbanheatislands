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9" r:id="rId2"/>
    <p:sldId id="273" r:id="rId3"/>
    <p:sldId id="268" r:id="rId4"/>
    <p:sldId id="261" r:id="rId5"/>
    <p:sldId id="264" r:id="rId6"/>
    <p:sldId id="265" r:id="rId7"/>
    <p:sldId id="262" r:id="rId8"/>
    <p:sldId id="279" r:id="rId9"/>
    <p:sldId id="277" r:id="rId10"/>
    <p:sldId id="276" r:id="rId11"/>
    <p:sldId id="258" r:id="rId12"/>
    <p:sldId id="280" r:id="rId13"/>
    <p:sldId id="278" r:id="rId14"/>
    <p:sldId id="269" r:id="rId15"/>
    <p:sldId id="260" r:id="rId16"/>
    <p:sldId id="270" r:id="rId17"/>
    <p:sldId id="272" r:id="rId18"/>
    <p:sldId id="275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46F"/>
    <a:srgbClr val="92AA95"/>
    <a:srgbClr val="8AA25F"/>
    <a:srgbClr val="526E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41B5A-2D63-12C0-35BD-4D22969DC3B0}" v="278" dt="2026-04-29T20:39:11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62D522-2B80-45A7-B970-459B20B0DE77}" type="datetimeFigureOut"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0B210-6C8B-4995-AB14-76A137C6807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33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For final project open </a:t>
            </a:r>
            <a:r>
              <a:rPr lang="en-US" dirty="0" err="1">
                <a:ea typeface="Calibri"/>
                <a:cs typeface="Calibri"/>
              </a:rPr>
              <a:t>metabase</a:t>
            </a:r>
            <a:r>
              <a:rPr lang="en-US" dirty="0">
                <a:ea typeface="Calibri"/>
                <a:cs typeface="Calibri"/>
              </a:rPr>
              <a:t> and explore with class</a:t>
            </a:r>
          </a:p>
          <a:p>
            <a:r>
              <a:rPr lang="en-US" dirty="0">
                <a:ea typeface="Calibri"/>
                <a:cs typeface="Calibri"/>
              </a:rPr>
              <a:t>Need Docker to open container in </a:t>
            </a:r>
            <a:r>
              <a:rPr lang="en-US" dirty="0" err="1">
                <a:ea typeface="Calibri"/>
                <a:cs typeface="Calibri"/>
              </a:rPr>
              <a:t>metabase</a:t>
            </a:r>
            <a:r>
              <a:rPr lang="en-US" dirty="0">
                <a:ea typeface="Calibri"/>
                <a:cs typeface="Calibri"/>
              </a:rPr>
              <a:t> </a:t>
            </a:r>
          </a:p>
          <a:p>
            <a:r>
              <a:rPr lang="en-US" dirty="0">
                <a:ea typeface="Calibri"/>
                <a:cs typeface="Calibri"/>
              </a:rPr>
              <a:t>embed to </a:t>
            </a:r>
            <a:r>
              <a:rPr lang="en-US" dirty="0" err="1">
                <a:ea typeface="Calibri"/>
                <a:cs typeface="Calibri"/>
              </a:rPr>
              <a:t>powerpoint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0B210-6C8B-4995-AB14-76A137C68073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24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Mention how it wasn't necessarily difficult retrieving the data, but formatting it correctly to later transform was hard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B44D2-87B3-421A-82A4-CED25299E3B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13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Forgot to assign when dropping duplicates</a:t>
            </a:r>
          </a:p>
          <a:p>
            <a:r>
              <a:rPr lang="en-US">
                <a:ea typeface="Calibri"/>
                <a:cs typeface="Calibri"/>
              </a:rPr>
              <a:t>Changing site weather </a:t>
            </a:r>
            <a:r>
              <a:rPr lang="en-US" err="1">
                <a:ea typeface="Calibri"/>
                <a:cs typeface="Calibri"/>
              </a:rPr>
              <a:t>dataframe</a:t>
            </a:r>
            <a:r>
              <a:rPr lang="en-US">
                <a:ea typeface="Calibri"/>
                <a:cs typeface="Calibri"/>
              </a:rPr>
              <a:t> to have columns with weather code to convert to condition, used to be rows with sites as a column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B44D2-87B3-421A-82A4-CED25299E3B5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35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3549A-A26E-DF6F-2EEB-189AD736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C2F8E-03CC-D35A-F479-EBD9EBF5A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DD3E5-10DC-C28E-7899-BA3C931BD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10000"/>
              </a:lnSpc>
              <a:spcBef>
                <a:spcPts val="500"/>
              </a:spcBef>
            </a:pPr>
            <a:endParaRPr lang="en-US">
              <a:solidFill>
                <a:srgbClr val="1F2328"/>
              </a:solidFill>
              <a:highlight>
                <a:srgbClr val="FFFFFF"/>
              </a:highlight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Foreign keys were difficult to create, with code using case end to assign foreign key.</a:t>
            </a:r>
          </a:p>
          <a:p>
            <a:r>
              <a:rPr lang="en-US"/>
              <a:t>How many launches went to each destination?</a:t>
            </a:r>
          </a:p>
          <a:p>
            <a:r>
              <a:rPr lang="en-US"/>
              <a:t>How do crewed vs. robotic missions compare in payload and destination?</a:t>
            </a:r>
          </a:p>
          <a:p>
            <a:r>
              <a:rPr lang="en-US"/>
              <a:t>Which agency has the best launch success rate?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C1F0F-9A7F-B07E-FFF0-4A50AE26D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B44D2-87B3-421A-82A4-CED25299E3B5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8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689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37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09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9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37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62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76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39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0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8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48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64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buildenv.2010.04.001" TargetMode="External"/><Relationship Id="rId2" Type="http://schemas.openxmlformats.org/officeDocument/2006/relationships/hyperlink" Target="https://doi.org/10.1175/jamc-d-13-02.1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8208747" y="1548606"/>
            <a:ext cx="3621029" cy="2241755"/>
          </a:xfrm>
        </p:spPr>
        <p:txBody>
          <a:bodyPr vert="horz" lIns="0" tIns="0" rIns="0" bIns="0" rtlCol="0" anchor="b">
            <a:noAutofit/>
          </a:bodyPr>
          <a:lstStyle/>
          <a:p>
            <a:pPr algn="l"/>
            <a:r>
              <a:rPr lang="en-US" sz="3000">
                <a:solidFill>
                  <a:schemeClr val="accent5"/>
                </a:solidFill>
              </a:rPr>
              <a:t>Urban Heat </a:t>
            </a:r>
            <a:r>
              <a:rPr lang="en-US" sz="3000" dirty="0">
                <a:solidFill>
                  <a:schemeClr val="accent5"/>
                </a:solidFill>
              </a:rPr>
              <a:t>Islands in </a:t>
            </a:r>
            <a:br>
              <a:rPr lang="en-US" sz="3000" dirty="0">
                <a:solidFill>
                  <a:schemeClr val="accent5"/>
                </a:solidFill>
              </a:rPr>
            </a:br>
            <a:r>
              <a:rPr lang="en-US" sz="3000" dirty="0">
                <a:solidFill>
                  <a:schemeClr val="accent5"/>
                </a:solidFill>
              </a:rPr>
              <a:t>Central P</a:t>
            </a:r>
            <a:r>
              <a:rPr lang="en-US" sz="3000" dirty="0">
                <a:solidFill>
                  <a:schemeClr val="accent5"/>
                </a:solidFill>
                <a:latin typeface="Neue Haas Grotesk Text Pro"/>
              </a:rPr>
              <a:t>a</a:t>
            </a:r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208746" y="3916909"/>
            <a:ext cx="3473180" cy="118458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en-US" sz="1700"/>
              <a:t>Final capstone Project </a:t>
            </a:r>
          </a:p>
          <a:p>
            <a:pPr algn="l">
              <a:lnSpc>
                <a:spcPct val="110000"/>
              </a:lnSpc>
            </a:pPr>
            <a:r>
              <a:rPr lang="en-US" sz="1700" b="0" dirty="0"/>
              <a:t>Jay Diaz</a:t>
            </a:r>
            <a:r>
              <a:rPr lang="en-US" sz="1700" dirty="0"/>
              <a:t>
</a:t>
            </a:r>
          </a:p>
        </p:txBody>
      </p:sp>
      <p:pic>
        <p:nvPicPr>
          <p:cNvPr id="6" name="Picture 5" descr="A map of a river&#10;&#10;AI-generated content may be incorrect.">
            <a:extLst>
              <a:ext uri="{FF2B5EF4-FFF2-40B4-BE49-F238E27FC236}">
                <a16:creationId xmlns:a16="http://schemas.microsoft.com/office/drawing/2014/main" id="{2FDD78D5-C142-53C9-BFD0-A41C2262C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73" y="1081138"/>
            <a:ext cx="7365843" cy="469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5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BA0B-57ED-A652-5FCA-FE6A9F98F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1841"/>
            <a:ext cx="10240903" cy="12334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>
                <a:solidFill>
                  <a:schemeClr val="accent5"/>
                </a:solidFill>
              </a:rPr>
              <a:t>Background and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269C4-6846-AFA9-665D-0C89FEE4E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0" y="1453680"/>
            <a:ext cx="10240903" cy="39561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latin typeface="Avenir Next LT Pro Light"/>
                <a:cs typeface="Times New Roman"/>
              </a:rPr>
              <a:t>Urban heat islands occur in cities as heat is stored, absorbed or entrapped more than surrounding rural and suburban areas </a:t>
            </a:r>
            <a:endParaRPr lang="en-US" sz="2400">
              <a:latin typeface="Avenir Next LT Pro Light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>
                <a:latin typeface="Avenir Next LT Pro Light"/>
                <a:cs typeface="Times New Roman"/>
              </a:rPr>
              <a:t>This intensifies with urbanization, increasing morbidity, and mortality</a:t>
            </a:r>
            <a:endParaRPr lang="en-US" sz="2400" dirty="0">
              <a:latin typeface="Avenir Next LT Pro Light"/>
              <a:cs typeface="Times New Roman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latin typeface="Avenir Next LT Pro Light"/>
                <a:cs typeface="Times New Roman"/>
              </a:rPr>
              <a:t>In America, these heat islands disproportionately impacts communities of color due to redlining</a:t>
            </a:r>
          </a:p>
          <a:p>
            <a:pPr marL="457200" indent="-457200">
              <a:lnSpc>
                <a:spcPct val="100000"/>
              </a:lnSpc>
              <a:buFont typeface="Wingdings" panose="020B0604020202020204" pitchFamily="34" charset="0"/>
              <a:buChar char="Ø"/>
            </a:pPr>
            <a:r>
              <a:rPr lang="en-US" sz="2400" dirty="0">
                <a:highlight>
                  <a:srgbClr val="FFFFFF"/>
                </a:highlight>
                <a:cs typeface="Times New Roman"/>
              </a:rPr>
              <a:t>How do marginalized communities, specifically communities </a:t>
            </a:r>
            <a:r>
              <a:rPr lang="en-US" sz="2400">
                <a:highlight>
                  <a:srgbClr val="FFFFFF"/>
                </a:highlight>
                <a:cs typeface="Times New Roman"/>
              </a:rPr>
              <a:t>of color</a:t>
            </a:r>
            <a:r>
              <a:rPr lang="en-US" sz="2400" dirty="0">
                <a:highlight>
                  <a:srgbClr val="FFFFFF"/>
                </a:highlight>
                <a:cs typeface="Times New Roman"/>
              </a:rPr>
              <a:t>, experience weather anomalies in their geographical communities? </a:t>
            </a:r>
            <a:endParaRPr lang="en-US" sz="2400">
              <a:cs typeface="Times New Roman"/>
            </a:endParaRPr>
          </a:p>
          <a:p>
            <a:pPr marL="457200" indent="-457200">
              <a:lnSpc>
                <a:spcPct val="100000"/>
              </a:lnSpc>
              <a:buFont typeface="Wingdings" panose="020B0604020202020204" pitchFamily="34" charset="0"/>
              <a:buChar char="Ø"/>
            </a:pPr>
            <a:r>
              <a:rPr lang="en-US" sz="2400" dirty="0">
                <a:highlight>
                  <a:srgbClr val="FFFFFF"/>
                </a:highlight>
                <a:cs typeface="Times New Roman"/>
              </a:rPr>
              <a:t>Specifically, how much greater anomalies on heat islands </a:t>
            </a:r>
            <a:r>
              <a:rPr lang="en-US" sz="2400">
                <a:highlight>
                  <a:srgbClr val="FFFFFF"/>
                </a:highlight>
                <a:cs typeface="Times New Roman"/>
              </a:rPr>
              <a:t>when compared</a:t>
            </a:r>
            <a:r>
              <a:rPr lang="en-US" sz="2400" dirty="0">
                <a:highlight>
                  <a:srgbClr val="FFFFFF"/>
                </a:highlight>
                <a:cs typeface="Times New Roman"/>
              </a:rPr>
              <a:t> to county averages?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658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000">
                <a:solidFill>
                  <a:schemeClr val="accent5"/>
                </a:solidFill>
              </a:rPr>
              <a:t>Project scope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1731821" y="1547400"/>
            <a:ext cx="8728363" cy="37672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</a:rPr>
              <a:t>Utilizing csv files from US Census Data and NOAA to 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</a:rPr>
              <a:t>analyze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venir Next LT Pro Light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ProgresSQL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 tables will be made to compare data through queries if needed.  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Visualization will consist of comparison between Lebanon </a:t>
            </a:r>
            <a:r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and Harrisburg through line graphs, bar graphs, and tables 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Avenir Next LT Pro Light"/>
              <a:cs typeface="Times New Roman"/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 Summarized in a dashboard using 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metabase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Light"/>
                <a:cs typeface="Times New Roman"/>
              </a:rPr>
              <a:t>.</a:t>
            </a:r>
            <a:endParaRPr lang="en-US" sz="2400">
              <a:solidFill>
                <a:schemeClr val="tx1">
                  <a:lumMod val="95000"/>
                  <a:lumOff val="5000"/>
                </a:schemeClr>
              </a:solidFill>
              <a:latin typeface="Avenir Next LT Pro Light"/>
            </a:endParaRPr>
          </a:p>
          <a:p>
            <a:pPr marL="0" indent="0" algn="ctr">
              <a:buNone/>
            </a:pPr>
            <a:endParaRPr lang="en-US" sz="1800" dirty="0">
              <a:latin typeface="Neue Haas Grotesk Text Pr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799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156B-7F05-C007-2C97-D44ADB7D4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anchor="ctr">
            <a:norm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Data </a:t>
            </a:r>
            <a:r>
              <a:rPr lang="en-US" sz="3000">
                <a:solidFill>
                  <a:schemeClr val="accent5"/>
                </a:solidFill>
              </a:rPr>
              <a:t>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B5BFF-E043-70DB-4490-4EF544349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34" y="2046225"/>
            <a:ext cx="5600367" cy="418008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Font typeface="Wingdings" panose="020B0604020202020204" pitchFamily="34" charset="0"/>
              <a:buChar char="Ø"/>
            </a:pPr>
            <a:r>
              <a:rPr lang="en-US" sz="2400"/>
              <a:t>Download the Census and NOAA Data</a:t>
            </a:r>
            <a:endParaRPr lang="en-US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1F2328"/>
                </a:solidFill>
                <a:highlight>
                  <a:srgbClr val="FFFFFF"/>
                </a:highlight>
              </a:rPr>
              <a:t>Looked for formatting issues and nulls and duplicates</a:t>
            </a:r>
            <a:endParaRPr lang="en-US" sz="2400"/>
          </a:p>
          <a:p>
            <a:pPr marL="1028700" lvl="1" indent="-342900">
              <a:buFont typeface="Wingdings" panose="020B0604020202020204" pitchFamily="34" charset="0"/>
              <a:buChar char="q"/>
            </a:pPr>
            <a:r>
              <a:rPr lang="en-US" sz="2400">
                <a:solidFill>
                  <a:srgbClr val="1F2328"/>
                </a:solidFill>
                <a:highlight>
                  <a:srgbClr val="FFFFFF"/>
                </a:highlight>
              </a:rPr>
              <a:t>For example: </a:t>
            </a:r>
            <a:endParaRPr lang="en-US" sz="2400"/>
          </a:p>
          <a:p>
            <a:pPr lvl="1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1F476-26EF-A344-4AE4-46C01F374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104" y="3995000"/>
            <a:ext cx="67627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C516-6726-D338-08B7-5E8C65CD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anchor="ctr">
            <a:normAutofit/>
          </a:bodyPr>
          <a:lstStyle/>
          <a:p>
            <a:r>
              <a:rPr lang="en-US" sz="3000">
                <a:solidFill>
                  <a:schemeClr val="accent5"/>
                </a:solidFill>
              </a:rPr>
              <a:t>Data Cleaning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CC8276-55C1-9F03-D553-1B86CF6D4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5061" y="1533574"/>
            <a:ext cx="4969957" cy="41771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Census Data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/>
              <a:t>Transpose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/>
              <a:t>Change from text to int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/>
              <a:t>Add colum</a:t>
            </a:r>
            <a:r>
              <a:rPr lang="en-US" sz="2400"/>
              <a:t>n names and remove first row</a:t>
            </a:r>
            <a:endParaRPr lang="en-US" sz="2400" dirty="0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/>
              <a:t>Alter column names to remove blank space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61EC2-1E06-0FB8-BD27-A09767224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3665" y="1523916"/>
            <a:ext cx="5181600" cy="4180822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NOAA Climate Data</a:t>
            </a:r>
          </a:p>
          <a:p>
            <a:pPr marL="457200" indent="-457200">
              <a:buFont typeface="Wingdings,Sans-Serif"/>
              <a:buChar char="Ø"/>
            </a:pPr>
            <a:r>
              <a:rPr lang="en-US" sz="2400"/>
              <a:t>Drop duplicates</a:t>
            </a:r>
          </a:p>
          <a:p>
            <a:pPr marL="457200" indent="-457200">
              <a:buFont typeface="Wingdings,Sans-Serif"/>
              <a:buChar char="Ø"/>
            </a:pPr>
            <a:r>
              <a:rPr lang="en-US" sz="2400"/>
              <a:t>Drop nulls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Wingdings" panose="020B0604020202020204" pitchFamily="34" charset="0"/>
              <a:buChar char="Ø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C6846A-AF5A-9AA9-F209-0D6821FEB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890" y="3852192"/>
            <a:ext cx="4682276" cy="256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40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BDAFB-B510-6232-1F4D-71E56CAD9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30E8-3445-D06E-30FD-B636E6B1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accent5"/>
                </a:solidFill>
              </a:rPr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579F6-A730-586F-F83B-F808E435B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8134" y="1996141"/>
            <a:ext cx="5311026" cy="41808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dirty="0">
                <a:highlight>
                  <a:srgbClr val="FFFFFF"/>
                </a:highlight>
              </a:rPr>
              <a:t>Tables were created for queries to better use </a:t>
            </a:r>
            <a:r>
              <a:rPr lang="en-US" dirty="0" err="1">
                <a:highlight>
                  <a:srgbClr val="FFFFFF"/>
                </a:highlight>
              </a:rPr>
              <a:t>metabase</a:t>
            </a:r>
            <a:endParaRPr lang="en-US" dirty="0">
              <a:highlight>
                <a:srgbClr val="FFFFFF"/>
              </a:highlight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>
                <a:highlight>
                  <a:srgbClr val="FFFFFF"/>
                </a:highlight>
              </a:rPr>
              <a:t>4 queries were made </a:t>
            </a:r>
          </a:p>
          <a:p>
            <a:pPr marL="1028700" lvl="1" indent="-342900">
              <a:buFont typeface="Wingdings" panose="020B0604020202020204" pitchFamily="34" charset="0"/>
              <a:buChar char="q"/>
            </a:pPr>
            <a:r>
              <a:rPr lang="en-US">
                <a:highlight>
                  <a:srgbClr val="FFFFFF"/>
                </a:highlight>
              </a:rPr>
              <a:t>Later graphs and maps were created based on the queries </a:t>
            </a:r>
          </a:p>
          <a:p>
            <a:pPr marL="457200" indent="-457200">
              <a:buFont typeface="Wingdings" panose="020B0604020202020204" pitchFamily="34" charset="0"/>
              <a:buChar char="Ø"/>
            </a:pPr>
            <a:endParaRPr lang="en-US">
              <a:highlight>
                <a:srgbClr val="FFFFFF"/>
              </a:highlight>
            </a:endParaRPr>
          </a:p>
          <a:p>
            <a:pPr marL="457200" indent="-457200">
              <a:buFont typeface="Wingdings" panose="020B0604020202020204" pitchFamily="34" charset="0"/>
              <a:buChar char="Ø"/>
            </a:pPr>
            <a:endParaRPr lang="en-US"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38764A99-414A-F597-E18C-04FBB476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3CB23366-20ED-43DC-8611-B4F5AE044B39}" type="datetime1">
              <a:pPr>
                <a:spcAft>
                  <a:spcPts val="600"/>
                </a:spcAft>
              </a:pPr>
              <a:t>4/29/2026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E844209D-6566-0D93-2265-33959622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44271D9F-75EB-B10F-03B9-47E31A21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425AD3-0ECD-11AF-0130-2C0A1133D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78" y="4361172"/>
            <a:ext cx="11065099" cy="1384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F35095-9057-70A5-3707-34312659D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725" y="1996984"/>
            <a:ext cx="4762770" cy="206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05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B803-6248-5BB7-869C-20CB7EC8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solidFill>
                  <a:schemeClr val="accent5"/>
                </a:solidFill>
              </a:rPr>
              <a:t>Data </a:t>
            </a:r>
            <a:r>
              <a:rPr lang="en-US" sz="3000" err="1">
                <a:solidFill>
                  <a:schemeClr val="accent5"/>
                </a:solidFill>
              </a:rPr>
              <a:t>Visualizat</a:t>
            </a:r>
            <a:r>
              <a:rPr lang="en-US" sz="3000">
                <a:solidFill>
                  <a:schemeClr val="accent5"/>
                </a:solidFill>
              </a:rPr>
              <a:t>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EB0D2-D56D-95DE-0627-26FE197ED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0" y="2318139"/>
            <a:ext cx="10240903" cy="39561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/>
              <a:t>Data Visualization is based on chosen queries done in </a:t>
            </a:r>
            <a:r>
              <a:rPr lang="en-US" sz="2400" dirty="0" err="1"/>
              <a:t>PostgresSQL</a:t>
            </a:r>
            <a:r>
              <a:rPr lang="en-US" sz="2400" dirty="0"/>
              <a:t> </a:t>
            </a:r>
            <a:r>
              <a:rPr lang="en-US" sz="2400" dirty="0" err="1"/>
              <a:t>Metabase</a:t>
            </a:r>
            <a:r>
              <a:rPr lang="en-US" sz="2400" dirty="0"/>
              <a:t> for better visualization for the created query tables</a:t>
            </a:r>
            <a:endParaRPr lang="en-US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 sz="2400" dirty="0">
                <a:ea typeface="+mn-lt"/>
                <a:cs typeface="+mn-lt"/>
              </a:rPr>
              <a:t>Maps were created using </a:t>
            </a:r>
            <a:r>
              <a:rPr lang="en-US" sz="2400" dirty="0" err="1">
                <a:ea typeface="+mn-lt"/>
                <a:cs typeface="+mn-lt"/>
              </a:rPr>
              <a:t>geopandas</a:t>
            </a:r>
            <a:r>
              <a:rPr lang="en-US" sz="2400" dirty="0">
                <a:ea typeface="+mn-lt"/>
                <a:cs typeface="+mn-lt"/>
              </a:rPr>
              <a:t> to accompany other visualization types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6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14BDE-43BB-B9C5-C507-3A299DD9A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BFB0EA4-F947-D6A2-8044-97E14988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877" y="3652491"/>
            <a:ext cx="3303731" cy="1709928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Maximum in 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temperature</a:t>
            </a:r>
            <a:br>
              <a:rPr lang="en-US" sz="2400" b="0" dirty="0">
                <a:solidFill>
                  <a:srgbClr val="DA002F"/>
                </a:solidFill>
                <a:latin typeface="Avenir Next LT Pro"/>
              </a:rPr>
            </a:br>
            <a:r>
              <a:rPr lang="en-US" sz="2400" b="0">
                <a:solidFill>
                  <a:srgbClr val="DA002F"/>
                </a:solidFill>
                <a:latin typeface="Avenir Next LT Pro"/>
              </a:rPr>
              <a:t>By months </a:t>
            </a:r>
            <a:endParaRPr lang="en-US" sz="2400" b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A3348-CDBE-059C-B05C-DF4D1F451950}"/>
              </a:ext>
            </a:extLst>
          </p:cNvPr>
          <p:cNvSpPr txBox="1"/>
          <p:nvPr/>
        </p:nvSpPr>
        <p:spPr>
          <a:xfrm>
            <a:off x="5899812" y="5747054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75264A-1FBB-6724-016D-346F06752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564" y="1743159"/>
            <a:ext cx="7768557" cy="381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03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604F-7BBF-2807-3CE2-CABF16F5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A1D2B49-DADD-414C-E528-EDB8A520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877" y="3652491"/>
            <a:ext cx="3303731" cy="1709928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Averages in 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temperatureBy month</a:t>
            </a:r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 </a:t>
            </a:r>
            <a:endParaRPr lang="en-US" sz="2400" b="0" dirty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A8394-3477-20EC-2D17-7D19965D7FBD}"/>
              </a:ext>
            </a:extLst>
          </p:cNvPr>
          <p:cNvSpPr txBox="1"/>
          <p:nvPr/>
        </p:nvSpPr>
        <p:spPr>
          <a:xfrm>
            <a:off x="5899812" y="5747054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A78EE-B8B1-F6ED-67F3-944522266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248" y="2442939"/>
            <a:ext cx="7321506" cy="277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63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B309-B20B-18F4-070B-C2430691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69F750B-8F92-7E74-4C71-BB0686CC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62" y="3171228"/>
            <a:ext cx="3424046" cy="2191191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Minimum 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temperatures</a:t>
            </a:r>
            <a:br>
              <a:rPr lang="en-US" sz="2400" b="0" dirty="0">
                <a:solidFill>
                  <a:srgbClr val="DA002F"/>
                </a:solidFill>
                <a:latin typeface="Avenir Next LT Pro"/>
              </a:rPr>
            </a:br>
            <a:r>
              <a:rPr lang="en-US" sz="2400" b="0">
                <a:solidFill>
                  <a:srgbClr val="DA002F"/>
                </a:solidFill>
                <a:latin typeface="Avenir Next LT Pro"/>
              </a:rPr>
              <a:t>By Month </a:t>
            </a:r>
            <a:endParaRPr lang="en-US" sz="2400" b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878CF-45AA-1A24-9E1B-77A2E3842D97}"/>
              </a:ext>
            </a:extLst>
          </p:cNvPr>
          <p:cNvSpPr txBox="1"/>
          <p:nvPr/>
        </p:nvSpPr>
        <p:spPr>
          <a:xfrm>
            <a:off x="5899812" y="5747054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5" name="Picture 4" descr="A graph of the temperature of the year&#10;&#10;AI-generated content may be incorrect.">
            <a:extLst>
              <a:ext uri="{FF2B5EF4-FFF2-40B4-BE49-F238E27FC236}">
                <a16:creationId xmlns:a16="http://schemas.microsoft.com/office/drawing/2014/main" id="{ED13A5C1-C80C-7331-F0BA-0A6EA5DE2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468" y="1319213"/>
            <a:ext cx="79152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06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233D8-8DAC-76E5-9DF5-FE1BCB114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86EE0B8-A88B-B204-D085-6296C7A3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142745" cy="1720660"/>
          </a:xfrm>
        </p:spPr>
        <p:txBody>
          <a:bodyPr vert="horz" lIns="0" tIns="0" rIns="0" bIns="0" rtlCol="0" anchor="ctr">
            <a:noAutofit/>
          </a:bodyPr>
          <a:lstStyle/>
          <a:p>
            <a:endParaRPr lang="en-US" sz="2400" b="0" dirty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CF62BA9-EF28-ACFB-EDE0-26CAC84B8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Anomalies are higher </a:t>
            </a:r>
            <a:r>
              <a:rPr lang="en-US" sz="2400"/>
              <a:t>in Harrisburg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FEF90-7918-D909-0C41-BB66448D4396}"/>
              </a:ext>
            </a:extLst>
          </p:cNvPr>
          <p:cNvSpPr txBox="1"/>
          <p:nvPr/>
        </p:nvSpPr>
        <p:spPr>
          <a:xfrm>
            <a:off x="4053840" y="5908040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F94C4E-E816-AC36-C380-9CE8423BC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130" y="2574649"/>
            <a:ext cx="6734175" cy="23050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15F6D41-552C-6C00-230B-FD9A5CBE6382}"/>
              </a:ext>
            </a:extLst>
          </p:cNvPr>
          <p:cNvSpPr txBox="1">
            <a:spLocks/>
          </p:cNvSpPr>
          <p:nvPr/>
        </p:nvSpPr>
        <p:spPr>
          <a:xfrm>
            <a:off x="870397" y="1264891"/>
            <a:ext cx="3303731" cy="170992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 cap="all" spc="7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 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Anomalies</a:t>
            </a:r>
            <a:r>
              <a:rPr lang="en-US" sz="2000" dirty="0">
                <a:solidFill>
                  <a:srgbClr val="DA002F"/>
                </a:solidFill>
                <a:latin typeface="Avenir Next LT Pro"/>
              </a:rPr>
              <a:t> </a:t>
            </a:r>
            <a:endParaRPr lang="en-US" sz="2000" dirty="0">
              <a:solidFill>
                <a:srgbClr val="DA002F"/>
              </a:solidFill>
            </a:endParaRPr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839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2076-6135-7C0E-88F8-0CD5335A9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2535C34-2225-2C26-8A88-21D2FD5D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chemeClr val="accent5"/>
                </a:solidFill>
              </a:rPr>
              <a:t>Beyond Temperature:</a:t>
            </a:r>
            <a:br>
              <a:rPr lang="en-US" sz="2700" b="0" dirty="0">
                <a:solidFill>
                  <a:schemeClr val="accent5"/>
                </a:solidFill>
              </a:rPr>
            </a:br>
            <a:r>
              <a:rPr lang="en-US" sz="2700" b="0">
                <a:solidFill>
                  <a:schemeClr val="accent5"/>
                </a:solidFill>
              </a:rPr>
              <a:t>Climate Variables</a:t>
            </a:r>
            <a:br>
              <a:rPr lang="en-US" sz="2700" b="0" dirty="0">
                <a:solidFill>
                  <a:schemeClr val="accent5"/>
                </a:solidFill>
              </a:rPr>
            </a:br>
            <a:r>
              <a:rPr lang="en-US" sz="2700" b="0">
                <a:solidFill>
                  <a:schemeClr val="accent5"/>
                </a:solidFill>
              </a:rPr>
              <a:t>By Month</a:t>
            </a:r>
            <a:r>
              <a:rPr lang="en-US" sz="2700" b="0" dirty="0"/>
              <a:t> </a:t>
            </a:r>
          </a:p>
          <a:p>
            <a:pPr>
              <a:lnSpc>
                <a:spcPct val="90000"/>
              </a:lnSpc>
            </a:pPr>
            <a:endParaRPr lang="en-US" sz="2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D2526-2E45-055E-6BFD-0ECA3587D024}"/>
              </a:ext>
            </a:extLst>
          </p:cNvPr>
          <p:cNvSpPr txBox="1"/>
          <p:nvPr/>
        </p:nvSpPr>
        <p:spPr>
          <a:xfrm>
            <a:off x="4512810" y="5463091"/>
            <a:ext cx="3932237" cy="275803"/>
          </a:xfrm>
          <a:prstGeom prst="rect">
            <a:avLst/>
          </a:prstGeom>
        </p:spPr>
        <p:txBody>
          <a:bodyPr rot="0" spcFirstLastPara="0" vertOverflow="overflow" horzOverflow="overflow" vert="horz" lIns="0" tIns="0" rIns="0" bIns="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1600" kern="1200" baseline="0" dirty="0" err="1"/>
              <a:t>Metabase</a:t>
            </a:r>
            <a:r>
              <a:rPr lang="en-US" sz="1600" kern="1200" baseline="0" dirty="0"/>
              <a:t> to Visualize</a:t>
            </a:r>
            <a:endParaRPr lang="en-US" sz="1600" kern="1200" dirty="0"/>
          </a:p>
          <a:p>
            <a:pPr>
              <a:spcBef>
                <a:spcPts val="1000"/>
              </a:spcBef>
            </a:pPr>
            <a:endParaRPr lang="en-US" sz="1600" kern="120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33F3267B-37FF-B1B1-E1B3-3BB8CB72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DA251291-D7EE-4322-A698-ABAAAAE5EF88}" type="datetime1">
              <a:pPr>
                <a:spcAft>
                  <a:spcPts val="600"/>
                </a:spcAft>
              </a:pPr>
              <a:t>4/29/2026</a:t>
            </a:fld>
            <a:endParaRPr lang="en-US"/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C8D49270-7C8B-90A1-979F-973C2CE2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40DCD0C6-86EB-FC4B-2974-1074E6FE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3" name="Picture 2" descr="A graph of blue and green vertical bars&#10;&#10;AI-generated content may be incorrect.">
            <a:extLst>
              <a:ext uri="{FF2B5EF4-FFF2-40B4-BE49-F238E27FC236}">
                <a16:creationId xmlns:a16="http://schemas.microsoft.com/office/drawing/2014/main" id="{A0B4DC99-FFB9-2F67-AF48-0E0B7CC8D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774" y="2142920"/>
            <a:ext cx="6131928" cy="2968626"/>
          </a:xfrm>
          <a:prstGeom prst="rect">
            <a:avLst/>
          </a:prstGeom>
        </p:spPr>
      </p:pic>
      <p:pic>
        <p:nvPicPr>
          <p:cNvPr id="2" name="Picture 1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711D6FF1-36A7-2801-C16E-85C942253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6" y="2139926"/>
            <a:ext cx="5983406" cy="294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2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BEBC-17DB-7F0B-A7CD-18249332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C25D589-46D4-A6FC-9CEB-1B18C52E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169088" cy="1225019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sz="2400" b="0">
                <a:solidFill>
                  <a:srgbClr val="DA002F"/>
                </a:solidFill>
                <a:latin typeface="Avenir Next LT Pro"/>
              </a:rPr>
              <a:t>Heatmap</a:t>
            </a:r>
            <a:endParaRPr lang="en-US" sz="2400" b="0">
              <a:solidFill>
                <a:srgbClr val="DA002F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D6A4F27-2255-1462-A9B8-E6C29B7A5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9160" y="3427984"/>
            <a:ext cx="3099816" cy="2057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Average monthly temperature is very similar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8DF60-9F15-BE52-C0F5-0EBC6DE1E55D}"/>
              </a:ext>
            </a:extLst>
          </p:cNvPr>
          <p:cNvSpPr txBox="1"/>
          <p:nvPr/>
        </p:nvSpPr>
        <p:spPr>
          <a:xfrm>
            <a:off x="4053840" y="5908040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solidFill>
                  <a:srgbClr val="000000"/>
                </a:solidFill>
                <a:latin typeface="Avenir Next LT Pro"/>
              </a:rPr>
              <a:t>Previous SQL Query and Metabase to Visualize</a:t>
            </a:r>
            <a:endParaRPr lang="en-US" sz="140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2" name="Picture 1" descr="A graph showing temperature and heatmap&#10;&#10;AI-generated content may be incorrect.">
            <a:extLst>
              <a:ext uri="{FF2B5EF4-FFF2-40B4-BE49-F238E27FC236}">
                <a16:creationId xmlns:a16="http://schemas.microsoft.com/office/drawing/2014/main" id="{ABA6FA2E-5CE3-300B-4D30-197909A78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726" y="477671"/>
            <a:ext cx="6841325" cy="542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85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2B5C0-29CD-8362-3948-2363475D4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F94867D-8CDA-CAA5-5786-34848ACF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582773" cy="1709928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Which city has a larger </a:t>
            </a:r>
            <a:r>
              <a:rPr lang="en-US" sz="2400" b="0">
                <a:solidFill>
                  <a:srgbClr val="DA002F"/>
                </a:solidFill>
                <a:latin typeface="Avenir Next LT Pro"/>
              </a:rPr>
              <a:t>community </a:t>
            </a:r>
            <a:r>
              <a:rPr lang="en-US" sz="2400" b="0" dirty="0">
                <a:solidFill>
                  <a:srgbClr val="DA002F"/>
                </a:solidFill>
                <a:latin typeface="Avenir Next LT Pro"/>
              </a:rPr>
              <a:t>of color?</a:t>
            </a:r>
            <a:endParaRPr lang="en-US" sz="2400" b="0" dirty="0"/>
          </a:p>
          <a:p>
            <a:endParaRPr lang="en-US" sz="2800" dirty="0">
              <a:solidFill>
                <a:schemeClr val="accent5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2F9F695-B1DF-7A35-BC83-7563AD72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venir Next LT Pro Light"/>
              </a:rPr>
              <a:t>Dauphin County has a much higher community of </a:t>
            </a:r>
            <a:r>
              <a:rPr lang="en-US" sz="2400">
                <a:solidFill>
                  <a:srgbClr val="000000"/>
                </a:solidFill>
                <a:latin typeface="Avenir Next LT Pro Light"/>
              </a:rPr>
              <a:t>color in all populations</a:t>
            </a:r>
            <a:endParaRPr lang="en-US" sz="2400"/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FAF1AB-6359-36DE-590A-CE044D0DA8AC}"/>
              </a:ext>
            </a:extLst>
          </p:cNvPr>
          <p:cNvSpPr txBox="1"/>
          <p:nvPr/>
        </p:nvSpPr>
        <p:spPr>
          <a:xfrm>
            <a:off x="4053840" y="5908040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 dirty="0">
                <a:solidFill>
                  <a:srgbClr val="000000"/>
                </a:solidFill>
                <a:latin typeface="Avenir Next LT Pro"/>
              </a:rPr>
              <a:t>Previous SQL Query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and</a:t>
            </a:r>
            <a:r>
              <a:rPr lang="en-US" sz="1400" baseline="0" dirty="0">
                <a:solidFill>
                  <a:srgbClr val="000000"/>
                </a:solidFill>
                <a:latin typeface="Avenir Next LT Pro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Python </a:t>
            </a:r>
            <a:r>
              <a:rPr lang="en-US" sz="1400" baseline="0" dirty="0">
                <a:solidFill>
                  <a:srgbClr val="000000"/>
                </a:solidFill>
                <a:latin typeface="Avenir Next LT Pro"/>
              </a:rPr>
              <a:t>to Visualize</a:t>
            </a:r>
            <a:endParaRPr lang="en-US" sz="1400" dirty="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4" name="Picture 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AFFC9FBB-E582-9EF6-F1A6-4F190AB8C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506" y="321811"/>
            <a:ext cx="7663815" cy="517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669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69791-40D7-524B-56DF-D40EA8F3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08E29AE-031B-EA7C-96B2-8D48CBFE0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169088" cy="1225019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sz="2400" b="0">
                <a:solidFill>
                  <a:srgbClr val="DA002F"/>
                </a:solidFill>
                <a:latin typeface="Avenir Next LT Pro"/>
              </a:rPr>
              <a:t>does this change over time?</a:t>
            </a:r>
            <a:endParaRPr lang="en-US" sz="24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DBA8D49-E472-228D-BA70-006838A52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6963" y="2934294"/>
            <a:ext cx="3350024" cy="219387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sz="2400" dirty="0"/>
              <a:t>Community of color over time has </a:t>
            </a:r>
            <a:r>
              <a:rPr lang="en-US" sz="2400"/>
              <a:t>changed more in at Dauphin County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133B0-6598-0367-8693-0E2BBB63D5C5}"/>
              </a:ext>
            </a:extLst>
          </p:cNvPr>
          <p:cNvSpPr txBox="1"/>
          <p:nvPr/>
        </p:nvSpPr>
        <p:spPr>
          <a:xfrm>
            <a:off x="6567303" y="5748816"/>
            <a:ext cx="40944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 dirty="0">
                <a:solidFill>
                  <a:srgbClr val="000000"/>
                </a:solidFill>
                <a:latin typeface="Avenir Next LT Pro"/>
              </a:rPr>
              <a:t>Previous SQL Query and </a:t>
            </a:r>
            <a:r>
              <a:rPr lang="en-US" sz="1400" dirty="0" err="1">
                <a:solidFill>
                  <a:srgbClr val="000000"/>
                </a:solidFill>
                <a:latin typeface="Avenir Next LT Pro"/>
              </a:rPr>
              <a:t>Pyth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on </a:t>
            </a:r>
            <a:r>
              <a:rPr lang="en-US" sz="1400" baseline="0" dirty="0">
                <a:solidFill>
                  <a:srgbClr val="000000"/>
                </a:solidFill>
                <a:latin typeface="Avenir Next LT Pro"/>
              </a:rPr>
              <a:t>to Visualize</a:t>
            </a:r>
            <a:endParaRPr lang="en-US" sz="1400" dirty="0">
              <a:solidFill>
                <a:srgbClr val="000000"/>
              </a:solidFill>
              <a:latin typeface="Avenir Next LT Pro"/>
            </a:endParaRPr>
          </a:p>
          <a:p>
            <a:pPr algn="ctr"/>
            <a:endParaRPr lang="en-US" sz="1400">
              <a:solidFill>
                <a:srgbClr val="000000"/>
              </a:solidFill>
              <a:latin typeface="Avenir Next LT Pro"/>
            </a:endParaRPr>
          </a:p>
        </p:txBody>
      </p:sp>
      <p:pic>
        <p:nvPicPr>
          <p:cNvPr id="4" name="Picture 3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0289E7BE-C841-6325-4FDB-332043A6B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495" y="1182804"/>
            <a:ext cx="7775786" cy="456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43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C5218-E8EF-D876-5613-956F0BD3A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8E68-8F19-7F6E-5477-CB65F755B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10414602" cy="1921434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Consideration </a:t>
            </a:r>
            <a:r>
              <a:rPr lang="en-US" sz="3000">
                <a:solidFill>
                  <a:schemeClr val="accent5"/>
                </a:solidFill>
              </a:rPr>
              <a:t>for the future:</a:t>
            </a:r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D9BEA-0851-7546-185C-46EBA1BA0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692207"/>
            <a:ext cx="6729984" cy="41142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endParaRPr lang="en-US" sz="2400" dirty="0"/>
          </a:p>
          <a:p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F4232-EB98-D771-7383-0D6127834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5720" y="3431245"/>
            <a:ext cx="3099816" cy="25392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solidFill>
                  <a:schemeClr val="accent5"/>
                </a:solidFill>
                <a:latin typeface="Aptos"/>
              </a:rPr>
              <a:t>What would be done with more time?</a:t>
            </a:r>
            <a:endParaRPr lang="en-US" sz="2400" b="1">
              <a:solidFill>
                <a:schemeClr val="accent5"/>
              </a:solidFill>
              <a:latin typeface="Aptos"/>
            </a:endParaRPr>
          </a:p>
          <a:p>
            <a:r>
              <a:rPr lang="en-US" sz="2400" b="1" dirty="0">
                <a:solidFill>
                  <a:schemeClr val="accent5"/>
                </a:solidFill>
                <a:latin typeface="Aptos"/>
              </a:rPr>
              <a:t>What would be changed </a:t>
            </a:r>
            <a:r>
              <a:rPr lang="en-US" sz="2400" b="1">
                <a:solidFill>
                  <a:schemeClr val="accent5"/>
                </a:solidFill>
                <a:latin typeface="Aptos"/>
              </a:rPr>
              <a:t>if I</a:t>
            </a:r>
            <a:r>
              <a:rPr lang="en-US" sz="2400" b="1" dirty="0">
                <a:solidFill>
                  <a:schemeClr val="accent5"/>
                </a:solidFill>
                <a:latin typeface="Aptos"/>
              </a:rPr>
              <a:t> started over?</a:t>
            </a:r>
            <a:endParaRPr lang="en-US" dirty="0">
              <a:solidFill>
                <a:schemeClr val="accent5"/>
              </a:solidFill>
            </a:endParaRPr>
          </a:p>
          <a:p>
            <a:endParaRPr lang="en-US" dirty="0"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73A58F-61A3-3FC8-E7A8-66D180CA431F}"/>
              </a:ext>
            </a:extLst>
          </p:cNvPr>
          <p:cNvSpPr txBox="1"/>
          <p:nvPr/>
        </p:nvSpPr>
        <p:spPr>
          <a:xfrm>
            <a:off x="4940300" y="2159000"/>
            <a:ext cx="646429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I would have like to figure out to combine of census data throughout the years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 would have liked to do more of the major cities of </a:t>
            </a:r>
            <a:r>
              <a:rPr lang="en-US"/>
              <a:t>Pennsylvania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Utilized shapefiles or </a:t>
            </a:r>
            <a:r>
              <a:rPr lang="en-US"/>
              <a:t>raster. 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 would have like to gather more ge</a:t>
            </a:r>
            <a:r>
              <a:rPr lang="en-US"/>
              <a:t>ographic data to create a map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Required more than 2 geographic markers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807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7C99-F63A-4413-737C-24E30AFA2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019B-FB01-1961-C642-035F0A39B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10071166" cy="1921434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Consideration </a:t>
            </a:r>
            <a:r>
              <a:rPr lang="en-US" sz="3000">
                <a:solidFill>
                  <a:schemeClr val="accent5"/>
                </a:solidFill>
              </a:rPr>
              <a:t>for the future:</a:t>
            </a:r>
            <a:endParaRPr lang="en-US" sz="30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1BA4C-B433-0B16-858B-C44C61334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881516"/>
            <a:ext cx="6880611" cy="39249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/>
              <a:t>Geopandas</a:t>
            </a:r>
            <a:endParaRPr lang="en-US" dirty="0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To create a proper map using </a:t>
            </a:r>
            <a:r>
              <a:rPr lang="en-US" sz="2000" dirty="0" err="1"/>
              <a:t>geopandas</a:t>
            </a:r>
            <a:r>
              <a:rPr lang="en-US" sz="2000" dirty="0"/>
              <a:t> you need 3 or more points</a:t>
            </a:r>
          </a:p>
          <a:p>
            <a:r>
              <a:rPr lang="en-US" sz="2400" dirty="0" err="1"/>
              <a:t>Metabase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Bar graphs were a challenge due to the format of final data</a:t>
            </a:r>
            <a:endParaRPr lang="en-US" sz="20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FBE74-CD4D-5D6E-9CDF-3917C281B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198628"/>
            <a:ext cx="3099816" cy="20665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i="0" u="none" strike="noStrike">
                <a:solidFill>
                  <a:schemeClr val="accent5"/>
                </a:solidFill>
                <a:effectLst/>
                <a:latin typeface="Aptos"/>
              </a:rPr>
              <a:t>What was learned?</a:t>
            </a:r>
            <a:endParaRPr lang="en-US" sz="2400" b="1">
              <a:solidFill>
                <a:schemeClr val="accent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85506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3D98-DF18-8E02-CAF6-FF4AE319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ctr">
            <a:normAutofit/>
          </a:bodyPr>
          <a:lstStyle/>
          <a:p>
            <a:r>
              <a:rPr lang="en-US" sz="3000">
                <a:solidFill>
                  <a:schemeClr val="accent5"/>
                </a:solidFill>
              </a:rPr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891DF-336C-4944-35E7-F6EE75A8E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Harrisburg-Lancaster-Lebanon-York, PA DMR - select your maps. </a:t>
            </a:r>
            <a:r>
              <a:rPr lang="en-US" sz="1800" dirty="0" err="1">
                <a:highlight>
                  <a:srgbClr val="FFFFFF"/>
                </a:highlight>
                <a:latin typeface="Avenir Next LT Pro Light"/>
                <a:cs typeface="Times New Roman"/>
              </a:rPr>
              <a:t>MarketMAPS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cs typeface="Times New Roman"/>
              </a:rPr>
              <a:t>. (n.d.). https://www.marketmaps.com/dmr-maps/harrisburg-lancaster-lebanon-york-pa.aspx </a:t>
            </a:r>
            <a:endParaRPr lang="en-US" sz="1800">
              <a:latin typeface="Avenir Next LT Pro Light"/>
            </a:endParaRPr>
          </a:p>
          <a:p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Li, D., &amp; Bou-Zeid, E. (2013). Synergistic interactions between urban heat islands and heat waves: The impact in cities is larger than the sum of its parts.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Journal of Applied Meteorology and Climatology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,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52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(9), 2051–2064. </a:t>
            </a:r>
            <a:r>
              <a:rPr lang="en-US" sz="1800" u="sng" dirty="0">
                <a:highlight>
                  <a:srgbClr val="FFFFFF"/>
                </a:highlight>
                <a:latin typeface="Avenir Next LT Pro Light"/>
                <a:cs typeface="Times New Roman"/>
                <a:hlinkClick r:id="rId2"/>
              </a:rPr>
              <a:t>https://doi.org/10.1175/jamc-d-13-02.1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cs typeface="Times New Roman"/>
              </a:rPr>
              <a:t> </a:t>
            </a:r>
            <a:endParaRPr lang="en-US" sz="1800">
              <a:highlight>
                <a:srgbClr val="C6C6C6"/>
              </a:highlight>
              <a:latin typeface="Avenir Next LT Pro Light"/>
              <a:cs typeface="Times New Roman"/>
            </a:endParaRPr>
          </a:p>
          <a:p>
            <a:r>
              <a:rPr lang="en-US" sz="1800">
                <a:highlight>
                  <a:srgbClr val="FFFFFF"/>
                </a:highlight>
                <a:latin typeface="Avenir Next LT Pro Light"/>
                <a:ea typeface="+mn-lt"/>
                <a:cs typeface="Times New Roman"/>
              </a:rPr>
              <a:t>Mapmaker: Redlining in the United States. Education. (n.d.). 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ea typeface="+mn-lt"/>
                <a:cs typeface="Times New Roman"/>
              </a:rPr>
              <a:t>https://education.nationalgeographic.org/resource/mapmaker-redlining-united-states/ </a:t>
            </a:r>
            <a:endParaRPr lang="en-US" sz="1800" dirty="0">
              <a:highlight>
                <a:srgbClr val="FFFFFF"/>
              </a:highlight>
              <a:latin typeface="Avenir Next LT Pro Light"/>
              <a:cs typeface="Times New Roman"/>
            </a:endParaRPr>
          </a:p>
          <a:p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Mirzaei, P. A., &amp; Haghighat, F. (2010). Approaches to study urban heat island – abilities and limitations.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Building and Environment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, </a:t>
            </a:r>
            <a:r>
              <a:rPr lang="en-US" sz="1800" i="1">
                <a:highlight>
                  <a:srgbClr val="FFFFFF"/>
                </a:highlight>
                <a:latin typeface="Avenir Next LT Pro Light"/>
                <a:cs typeface="Times New Roman"/>
              </a:rPr>
              <a:t>45</a:t>
            </a:r>
            <a:r>
              <a:rPr lang="en-US" sz="1800">
                <a:highlight>
                  <a:srgbClr val="FFFFFF"/>
                </a:highlight>
                <a:latin typeface="Avenir Next LT Pro Light"/>
                <a:cs typeface="Times New Roman"/>
              </a:rPr>
              <a:t>(10), 2192–2201. </a:t>
            </a:r>
            <a:r>
              <a:rPr lang="en-US" sz="1800" u="sng" dirty="0">
                <a:highlight>
                  <a:srgbClr val="FFFFFF"/>
                </a:highlight>
                <a:latin typeface="Avenir Next LT Pro Light"/>
                <a:cs typeface="Times New Roman"/>
                <a:hlinkClick r:id="rId3"/>
              </a:rPr>
              <a:t>https://doi.org/10.1016/j.buildenv.2010.04.001</a:t>
            </a:r>
            <a:r>
              <a:rPr lang="en-US" sz="1800" dirty="0">
                <a:highlight>
                  <a:srgbClr val="FFFFFF"/>
                </a:highlight>
                <a:latin typeface="Avenir Next LT Pro Light"/>
                <a:cs typeface="Times New Roman"/>
              </a:rPr>
              <a:t> </a:t>
            </a:r>
            <a:endParaRPr lang="en-US" sz="1800" dirty="0">
              <a:highlight>
                <a:srgbClr val="C6C6C6"/>
              </a:highlight>
              <a:latin typeface="Avenir Next LT Pro Light"/>
              <a:cs typeface="Times New Roman"/>
            </a:endParaRPr>
          </a:p>
          <a:p>
            <a:endParaRPr lang="en-US" sz="18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3E68B-3E0B-337D-7880-89DD3B3F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3E24-65F8-4E30-9D74-DC5F7C974220}" type="datetime1">
              <a:t>4/29/2026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1913C-16C2-850F-AA40-727F3D14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D1710-0883-3DA4-753E-FD7C54DF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28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ABFF-FA61-B9B8-8694-BF76929C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>
                <a:solidFill>
                  <a:schemeClr val="accent5"/>
                </a:solidFill>
              </a:rPr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8700C-FDF5-8105-F25C-42131A37B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 vert="horz" lIns="0" tIns="0" rIns="0" bIns="0" rtlCol="0" anchor="ctr">
            <a:normAutofit/>
          </a:bodyPr>
          <a:lstStyle/>
          <a:p>
            <a:pPr algn="ctr"/>
            <a:r>
              <a:rPr lang="en-US" sz="2400"/>
              <a:t>Any Questions?</a:t>
            </a:r>
            <a:endParaRPr lang="en-US"/>
          </a:p>
          <a:p>
            <a:pPr algn="ctr"/>
            <a:r>
              <a:rPr lang="en-US" sz="2400"/>
              <a:t>Diazj2@etown.edu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8F29C-29CF-80B8-4D7D-8AA74CD5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479C6AA-5118-4747-AF10-177EE4D40190}" type="datetime1">
              <a:rPr lang="en-US"/>
              <a:pPr>
                <a:spcAft>
                  <a:spcPts val="600"/>
                </a:spcAft>
              </a:pPr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B1488-6343-3403-EF4D-712A170A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596C4-3F1C-639D-4556-C4C394EB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10" name="Picture Placeholder 9" descr="Harrisburg-Lancaster-Lebanon-York DMR Wall Maps">
            <a:extLst>
              <a:ext uri="{FF2B5EF4-FFF2-40B4-BE49-F238E27FC236}">
                <a16:creationId xmlns:a16="http://schemas.microsoft.com/office/drawing/2014/main" id="{B7318B5A-A965-A139-2CD3-8E31106B2D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9712" r="9712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3828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GradientRiseVTI</vt:lpstr>
      <vt:lpstr>Urban Heat Islands in  Central Pa</vt:lpstr>
      <vt:lpstr>Background and Goals</vt:lpstr>
      <vt:lpstr>Project scope</vt:lpstr>
      <vt:lpstr>Data Acquisition</vt:lpstr>
      <vt:lpstr>Data Cleaning</vt:lpstr>
      <vt:lpstr>SQL</vt:lpstr>
      <vt:lpstr>Data Visualization</vt:lpstr>
      <vt:lpstr>Maximum in temperature By months  </vt:lpstr>
      <vt:lpstr>Averages in temperatureBy month  </vt:lpstr>
      <vt:lpstr>Minimum temperatures By Month  </vt:lpstr>
      <vt:lpstr> </vt:lpstr>
      <vt:lpstr>Beyond Temperature: Climate Variables By Month  </vt:lpstr>
      <vt:lpstr>Heatmap</vt:lpstr>
      <vt:lpstr>Which city has a larger community of color? </vt:lpstr>
      <vt:lpstr>does this change over time?</vt:lpstr>
      <vt:lpstr>Consideration for the future:</vt:lpstr>
      <vt:lpstr>Consideration for the future:</vt:lpstr>
      <vt:lpstr>Citations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Heat Island</dc:title>
  <dc:creator>Diaz, Jay</dc:creator>
  <cp:lastModifiedBy>Diaz, Jay</cp:lastModifiedBy>
  <cp:revision>583</cp:revision>
  <dcterms:created xsi:type="dcterms:W3CDTF">2026-04-13T18:16:26Z</dcterms:created>
  <dcterms:modified xsi:type="dcterms:W3CDTF">2026-04-29T20:39:26Z</dcterms:modified>
</cp:coreProperties>
</file>